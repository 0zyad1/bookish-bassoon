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League Spartan" pitchFamily="2" charset="0"/>
      <p:regular r:id="rId10"/>
      <p:bold r:id="rId11"/>
    </p:embeddedFont>
    <p:embeddedFont>
      <p:font typeface="Montserrat" pitchFamily="2" charset="0"/>
      <p:regular r:id="rId12"/>
      <p:bold r:id="rId13"/>
      <p:italic r:id="rId14"/>
      <p:boldItalic r:id="rId15"/>
    </p:embeddedFont>
    <p:embeddedFont>
      <p:font typeface="Montserrat-Arabic" panose="00000500000000000000" pitchFamily="2" charset="-78"/>
      <p:regular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00B8"/>
    <a:srgbClr val="661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3312" y="1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544CE-D5A4-16C8-0DE6-C6717E84C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F5168-275C-59B0-D748-37A695D94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A7840-51A5-6376-BC18-F5AADC6D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7670A-92EE-2080-CEDE-8BEE9B9B9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C7FEA-A52A-635C-F8F2-6888FAE7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91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1B2D-2DCF-13E9-0ADB-BBB3EE314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49EA-546F-BEC4-786B-79CC9421D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FFCE-DB4C-D43D-628F-BB349612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C53C9-9B65-6F97-7853-A2945117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DF417-1F59-7DE1-CC1D-1EEF99463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77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5CD2-5535-D13A-CFEF-0D4750509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83A63-8649-31DD-0A27-FD03A178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DDC0-9E09-5940-72EA-0AC030E6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B7AE7-16E6-EB67-0D8A-BDEDF0E3E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E2C1-9AB8-A031-53F9-08D659D19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7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49161-BB3E-C9FB-0696-8ECE95700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27914-B399-DA6E-D503-9B1BA1513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C2F0A-FCC2-D638-BCAE-02A93F41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3D1F6-9A99-7374-AE63-A88EAACC5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345AA-5055-64A9-28CA-40B52CF2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231C9-6E3A-F72F-017D-0875E7225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6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A7E7-A60D-1D80-0E1B-EC165934A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C5CD0-E0E8-8C5E-B3BD-CF13DB706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018812-1C7A-E463-CB2C-75198D768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BED63-F684-9C6C-6435-F4AF5E655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0B4A03-B4C0-8C29-C582-DBE0A59B86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EC3825-3EA5-43F3-D9ED-FB77B631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5CE52E-C8A2-D3C5-044B-47A4D9865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5B0F2-52F1-FAC7-9330-0E22874D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1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AD4FF-BED9-9CA3-F5AB-F69A38F14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04FAB3-2217-C8C1-07F3-8317B791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17A132-A166-6D74-8012-11F51567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F98FB-3579-E47D-51DE-024CC698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56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33609B-C4F0-183D-9EC6-20C7B7B8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CA720-EE1A-FDEB-5833-419E90CB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471BD-3E1D-DC59-F51A-4F010DC4F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481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A9D4-5A17-83FE-3CC0-AB04FC84A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6250-0381-4B66-5AEE-0D0D23B74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02135-18FB-E091-0F25-220F20CCE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92978-CD80-3B91-A025-9673089FA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C945B-8C2C-319D-AB51-19BACC73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9B332-7F6F-CC9F-E8DA-E5DD98C3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1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D68AD-1BA2-38E5-2994-6B4B6888D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D5CA6-4402-E7A3-3A01-A059750E1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5D11F-7740-0924-059C-0FB95E3DA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DC1F2-D3C5-776D-7394-9479096A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43B7E6-8E41-2039-AF34-1F6FEE3F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774A0-08C8-4245-E0F5-F381CD42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51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B3175-8987-2F97-43A8-2B47A83DA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8DD29-EB70-A9E7-E776-163A04402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56333-318B-2250-98A4-D7586FC0B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B4AB9-417D-FC84-4D71-50E5355FC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3CC95-FA7D-4104-14B3-3EF4C473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88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B45F21-0D24-C59B-6C19-110671C77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0EEE4-FD2B-E859-5925-43D0AA50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A2E90-0022-903F-A8F3-830BC815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B6316-93BB-5897-F083-CA452E309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97EED-7C6B-A27A-9C3E-863F8F32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40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E770C-FFE8-04CF-DA09-91F7859B7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BAFB8-8597-1267-206B-A8AAB2883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CC81A-1BAD-1EFC-E6F6-BBA5B0825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9F5C4-B643-466F-BE2A-9E11F70B5F6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BDC9C-08B8-8EC8-DC00-F7FA48629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6D4DF-2217-E66C-0CC2-943B9DF1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EE9F4-FF75-45B4-9291-AACFF1E56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8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.xml"/><Relationship Id="rId5" Type="http://schemas.openxmlformats.org/officeDocument/2006/relationships/slide" Target="slide2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7.xml"/><Relationship Id="rId3" Type="http://schemas.openxmlformats.org/officeDocument/2006/relationships/image" Target="../media/image4.png"/><Relationship Id="rId7" Type="http://schemas.openxmlformats.org/officeDocument/2006/relationships/slide" Target="slide1.xml"/><Relationship Id="rId12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.xml"/><Relationship Id="rId11" Type="http://schemas.openxmlformats.org/officeDocument/2006/relationships/image" Target="../media/image7.png"/><Relationship Id="rId5" Type="http://schemas.openxmlformats.org/officeDocument/2006/relationships/image" Target="../media/image2.svg"/><Relationship Id="rId10" Type="http://schemas.openxmlformats.org/officeDocument/2006/relationships/image" Target="../media/image6.sv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3" Type="http://schemas.openxmlformats.org/officeDocument/2006/relationships/image" Target="../media/image8.svg"/><Relationship Id="rId3" Type="http://schemas.openxmlformats.org/officeDocument/2006/relationships/slideLayout" Target="../slideLayouts/slideLayout1.xml"/><Relationship Id="rId7" Type="http://schemas.openxmlformats.org/officeDocument/2006/relationships/slide" Target="slide2.xml"/><Relationship Id="rId12" Type="http://schemas.openxmlformats.org/officeDocument/2006/relationships/image" Target="../media/image7.png"/><Relationship Id="rId2" Type="http://schemas.openxmlformats.org/officeDocument/2006/relationships/video" Target="../media/media1.mp4"/><Relationship Id="rId16" Type="http://schemas.openxmlformats.org/officeDocument/2006/relationships/image" Target="../media/image4.png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6.svg"/><Relationship Id="rId5" Type="http://schemas.openxmlformats.org/officeDocument/2006/relationships/image" Target="../media/image2.svg"/><Relationship Id="rId15" Type="http://schemas.openxmlformats.org/officeDocument/2006/relationships/image" Target="../media/image9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slide" Target="slide6.xml"/><Relationship Id="rId14" Type="http://schemas.openxmlformats.org/officeDocument/2006/relationships/slide" Target="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.svg"/><Relationship Id="rId12" Type="http://schemas.openxmlformats.org/officeDocument/2006/relationships/image" Target="../media/image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11" Type="http://schemas.openxmlformats.org/officeDocument/2006/relationships/slide" Target="slide7.xml"/><Relationship Id="rId5" Type="http://schemas.openxmlformats.org/officeDocument/2006/relationships/image" Target="../media/image4.png"/><Relationship Id="rId10" Type="http://schemas.openxmlformats.org/officeDocument/2006/relationships/slide" Target="slide6.xml"/><Relationship Id="rId4" Type="http://schemas.openxmlformats.org/officeDocument/2006/relationships/image" Target="../media/image3.png"/><Relationship Id="rId9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D9761-CA4C-210D-1FE9-A35FFDBD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Rooster with solid fill">
            <a:extLst>
              <a:ext uri="{FF2B5EF4-FFF2-40B4-BE49-F238E27FC236}">
                <a16:creationId xmlns:a16="http://schemas.microsoft.com/office/drawing/2014/main" id="{B66F811F-AA78-E060-13B9-C6AF09F21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15" name="!!MiddleBack">
            <a:extLst>
              <a:ext uri="{FF2B5EF4-FFF2-40B4-BE49-F238E27FC236}">
                <a16:creationId xmlns:a16="http://schemas.microsoft.com/office/drawing/2014/main" id="{5E54043A-24AB-EA02-AE9A-CCD2030BA8DB}"/>
              </a:ext>
            </a:extLst>
          </p:cNvPr>
          <p:cNvSpPr txBox="1"/>
          <p:nvPr/>
        </p:nvSpPr>
        <p:spPr>
          <a:xfrm rot="16200000">
            <a:off x="8430752" y="3044279"/>
            <a:ext cx="685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30" name="Rectangle: Rounded Corners 29">
            <a:hlinkClick r:id="rId4" action="ppaction://hlinksldjump"/>
            <a:extLst>
              <a:ext uri="{FF2B5EF4-FFF2-40B4-BE49-F238E27FC236}">
                <a16:creationId xmlns:a16="http://schemas.microsoft.com/office/drawing/2014/main" id="{A9D95D20-8704-9889-38FA-EA6D0D168A77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31" name="Rectangle: Rounded Corners 30">
            <a:hlinkClick r:id="rId5" action="ppaction://hlinksldjump"/>
            <a:extLst>
              <a:ext uri="{FF2B5EF4-FFF2-40B4-BE49-F238E27FC236}">
                <a16:creationId xmlns:a16="http://schemas.microsoft.com/office/drawing/2014/main" id="{F24D5120-E5C9-C84B-808B-120018BB945D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32" name="Rectangle: Rounded Corners 31">
            <a:hlinkClick r:id="rId6" action="ppaction://hlinksldjump"/>
            <a:extLst>
              <a:ext uri="{FF2B5EF4-FFF2-40B4-BE49-F238E27FC236}">
                <a16:creationId xmlns:a16="http://schemas.microsoft.com/office/drawing/2014/main" id="{4A9C8CA4-0802-C5C3-9781-B1EAB2F755C6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34" name="Rectangle: Rounded Corners 33">
            <a:hlinkClick r:id="rId7" action="ppaction://hlinksldjump"/>
            <a:extLst>
              <a:ext uri="{FF2B5EF4-FFF2-40B4-BE49-F238E27FC236}">
                <a16:creationId xmlns:a16="http://schemas.microsoft.com/office/drawing/2014/main" id="{DFD7A625-41EA-8018-3D3C-1FE8AA2DEEAF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  <p:sp>
        <p:nvSpPr>
          <p:cNvPr id="35" name="!!MiddleBack">
            <a:extLst>
              <a:ext uri="{FF2B5EF4-FFF2-40B4-BE49-F238E27FC236}">
                <a16:creationId xmlns:a16="http://schemas.microsoft.com/office/drawing/2014/main" id="{152E3A3C-CA9A-487A-8494-53C92E8D45AE}"/>
              </a:ext>
            </a:extLst>
          </p:cNvPr>
          <p:cNvSpPr txBox="1"/>
          <p:nvPr/>
        </p:nvSpPr>
        <p:spPr>
          <a:xfrm>
            <a:off x="2095499" y="1164495"/>
            <a:ext cx="26085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Dr. Naira</a:t>
            </a:r>
            <a:endParaRPr lang="ar-EG" sz="4400" b="1" dirty="0">
              <a:solidFill>
                <a:schemeClr val="bg1"/>
              </a:solidFill>
              <a:latin typeface="League Spartan" pitchFamily="2" charset="0"/>
            </a:endParaRPr>
          </a:p>
        </p:txBody>
      </p:sp>
      <p:sp>
        <p:nvSpPr>
          <p:cNvPr id="3" name="!!topic1words">
            <a:extLst>
              <a:ext uri="{FF2B5EF4-FFF2-40B4-BE49-F238E27FC236}">
                <a16:creationId xmlns:a16="http://schemas.microsoft.com/office/drawing/2014/main" id="{033B1173-F9DC-7DCE-8B1E-A461284EC756}"/>
              </a:ext>
            </a:extLst>
          </p:cNvPr>
          <p:cNvSpPr/>
          <p:nvPr/>
        </p:nvSpPr>
        <p:spPr>
          <a:xfrm>
            <a:off x="13110505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!!MiddleBack">
            <a:extLst>
              <a:ext uri="{FF2B5EF4-FFF2-40B4-BE49-F238E27FC236}">
                <a16:creationId xmlns:a16="http://schemas.microsoft.com/office/drawing/2014/main" id="{EB6AB3DC-0A1D-B679-575C-F946FA514402}"/>
              </a:ext>
            </a:extLst>
          </p:cNvPr>
          <p:cNvSpPr txBox="1"/>
          <p:nvPr/>
        </p:nvSpPr>
        <p:spPr>
          <a:xfrm>
            <a:off x="12404354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0E5F0-B103-184D-E73A-874F60E9FC1E}"/>
              </a:ext>
            </a:extLst>
          </p:cNvPr>
          <p:cNvSpPr txBox="1"/>
          <p:nvPr/>
        </p:nvSpPr>
        <p:spPr>
          <a:xfrm>
            <a:off x="13270385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bird’s beak is made of …..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0C791-9B6B-D121-6FB9-66A00520BFFA}"/>
              </a:ext>
            </a:extLst>
          </p:cNvPr>
          <p:cNvSpPr txBox="1"/>
          <p:nvPr/>
        </p:nvSpPr>
        <p:spPr>
          <a:xfrm>
            <a:off x="13270385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Bone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E84E6-B345-1EBC-6EB1-A778734A61CA}"/>
              </a:ext>
            </a:extLst>
          </p:cNvPr>
          <p:cNvSpPr txBox="1"/>
          <p:nvPr/>
        </p:nvSpPr>
        <p:spPr>
          <a:xfrm>
            <a:off x="13270383" y="3873516"/>
            <a:ext cx="309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Hard keratinized epidermal structure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D5279C-6566-473C-D32E-D27EEE627C10}"/>
              </a:ext>
            </a:extLst>
          </p:cNvPr>
          <p:cNvSpPr txBox="1"/>
          <p:nvPr/>
        </p:nvSpPr>
        <p:spPr>
          <a:xfrm>
            <a:off x="13270385" y="4625502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Cartilage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7408A-0DA3-7FE1-AA5B-1135250DB360}"/>
              </a:ext>
            </a:extLst>
          </p:cNvPr>
          <p:cNvSpPr txBox="1"/>
          <p:nvPr/>
        </p:nvSpPr>
        <p:spPr>
          <a:xfrm>
            <a:off x="13270385" y="5100489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Soft connective tissue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5E1D5-E3E9-462E-2523-52545F73977F}"/>
              </a:ext>
            </a:extLst>
          </p:cNvPr>
          <p:cNvSpPr txBox="1"/>
          <p:nvPr/>
        </p:nvSpPr>
        <p:spPr>
          <a:xfrm>
            <a:off x="2647948" y="2145836"/>
            <a:ext cx="2608592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همس أحمد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هند رضا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منار مجدي 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ندى السيد </a:t>
            </a:r>
          </a:p>
        </p:txBody>
      </p:sp>
      <p:sp>
        <p:nvSpPr>
          <p:cNvPr id="10" name="!!page1product">
            <a:extLst>
              <a:ext uri="{FF2B5EF4-FFF2-40B4-BE49-F238E27FC236}">
                <a16:creationId xmlns:a16="http://schemas.microsoft.com/office/drawing/2014/main" id="{9A2F3CFD-68F7-043F-2524-F437F05827F4}"/>
              </a:ext>
            </a:extLst>
          </p:cNvPr>
          <p:cNvSpPr/>
          <p:nvPr/>
        </p:nvSpPr>
        <p:spPr>
          <a:xfrm>
            <a:off x="5538020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2" name="!!page2product">
            <a:extLst>
              <a:ext uri="{FF2B5EF4-FFF2-40B4-BE49-F238E27FC236}">
                <a16:creationId xmlns:a16="http://schemas.microsoft.com/office/drawing/2014/main" id="{1E898164-7D4D-F382-D230-5B420BA7B84E}"/>
              </a:ext>
            </a:extLst>
          </p:cNvPr>
          <p:cNvSpPr/>
          <p:nvPr/>
        </p:nvSpPr>
        <p:spPr>
          <a:xfrm>
            <a:off x="6783625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page3product">
            <a:extLst>
              <a:ext uri="{FF2B5EF4-FFF2-40B4-BE49-F238E27FC236}">
                <a16:creationId xmlns:a16="http://schemas.microsoft.com/office/drawing/2014/main" id="{CB83EEB7-2E9B-07BF-E1B1-949601761B89}"/>
              </a:ext>
            </a:extLst>
          </p:cNvPr>
          <p:cNvSpPr/>
          <p:nvPr/>
        </p:nvSpPr>
        <p:spPr>
          <a:xfrm>
            <a:off x="8053773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page4product">
            <a:extLst>
              <a:ext uri="{FF2B5EF4-FFF2-40B4-BE49-F238E27FC236}">
                <a16:creationId xmlns:a16="http://schemas.microsoft.com/office/drawing/2014/main" id="{858BADF0-2F83-8861-AB87-303AD69FFCEA}"/>
              </a:ext>
            </a:extLst>
          </p:cNvPr>
          <p:cNvSpPr/>
          <p:nvPr/>
        </p:nvSpPr>
        <p:spPr>
          <a:xfrm>
            <a:off x="9323922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xD">
            <a:extLst>
              <a:ext uri="{FF2B5EF4-FFF2-40B4-BE49-F238E27FC236}">
                <a16:creationId xmlns:a16="http://schemas.microsoft.com/office/drawing/2014/main" id="{6FDA31E8-427C-BF27-55C9-BB8FB75AC072}"/>
              </a:ext>
            </a:extLst>
          </p:cNvPr>
          <p:cNvSpPr/>
          <p:nvPr/>
        </p:nvSpPr>
        <p:spPr>
          <a:xfrm>
            <a:off x="11372850" y="0"/>
            <a:ext cx="819150" cy="6858000"/>
          </a:xfrm>
          <a:prstGeom prst="rect">
            <a:avLst/>
          </a:prstGeom>
          <a:gradFill>
            <a:gsLst>
              <a:gs pos="0">
                <a:srgbClr val="AD85FF">
                  <a:alpha val="0"/>
                </a:srgbClr>
              </a:gs>
              <a:gs pos="100000">
                <a:srgbClr val="6316FF"/>
              </a:gs>
            </a:gsLst>
            <a:lin ang="0" scaled="0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B37E2-5EDA-EF57-A79E-6E55CF509C73}"/>
              </a:ext>
            </a:extLst>
          </p:cNvPr>
          <p:cNvSpPr txBox="1"/>
          <p:nvPr/>
        </p:nvSpPr>
        <p:spPr>
          <a:xfrm>
            <a:off x="608550" y="2353585"/>
            <a:ext cx="2608592" cy="129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سما سامي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مروة عبدالله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وعد محمد</a:t>
            </a:r>
          </a:p>
        </p:txBody>
      </p:sp>
    </p:spTree>
    <p:extLst>
      <p:ext uri="{BB962C8B-B14F-4D97-AF65-F5344CB8AC3E}">
        <p14:creationId xmlns:p14="http://schemas.microsoft.com/office/powerpoint/2010/main" val="103217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AE9FC3B0-0ADA-91A5-F9D5-105D1AB22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35" name="!!MiddleBack">
            <a:extLst>
              <a:ext uri="{FF2B5EF4-FFF2-40B4-BE49-F238E27FC236}">
                <a16:creationId xmlns:a16="http://schemas.microsoft.com/office/drawing/2014/main" id="{F1E45A4D-4325-361B-A627-D784727ACB6F}"/>
              </a:ext>
            </a:extLst>
          </p:cNvPr>
          <p:cNvSpPr txBox="1"/>
          <p:nvPr/>
        </p:nvSpPr>
        <p:spPr>
          <a:xfrm>
            <a:off x="-1084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126" name="!!topic1words">
            <a:extLst>
              <a:ext uri="{FF2B5EF4-FFF2-40B4-BE49-F238E27FC236}">
                <a16:creationId xmlns:a16="http://schemas.microsoft.com/office/drawing/2014/main" id="{78D0C943-EF9A-A751-B6A8-81DBD4E20890}"/>
              </a:ext>
            </a:extLst>
          </p:cNvPr>
          <p:cNvSpPr/>
          <p:nvPr/>
        </p:nvSpPr>
        <p:spPr>
          <a:xfrm>
            <a:off x="8589987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CFE6BC4-B8D7-3791-30FD-9FDCEEEEE313}"/>
              </a:ext>
            </a:extLst>
          </p:cNvPr>
          <p:cNvSpPr txBox="1"/>
          <p:nvPr/>
        </p:nvSpPr>
        <p:spPr>
          <a:xfrm>
            <a:off x="8749867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esophagus in birds is …..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6766F8A-9E57-1880-6CF3-8EC0C9CADACE}"/>
              </a:ext>
            </a:extLst>
          </p:cNvPr>
          <p:cNvSpPr txBox="1"/>
          <p:nvPr/>
        </p:nvSpPr>
        <p:spPr>
          <a:xfrm>
            <a:off x="8749867" y="3131535"/>
            <a:ext cx="2775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muscular tube connecting mouth to stomach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5FD2B7A-AF28-FF53-0584-40C6A7655E81}"/>
              </a:ext>
            </a:extLst>
          </p:cNvPr>
          <p:cNvSpPr txBox="1"/>
          <p:nvPr/>
        </p:nvSpPr>
        <p:spPr>
          <a:xfrm>
            <a:off x="8749865" y="4032246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Located on the left side of the neck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8FC4746-DAB8-86B3-DBDC-F6B5DC797AB4}"/>
              </a:ext>
            </a:extLst>
          </p:cNvPr>
          <p:cNvSpPr txBox="1"/>
          <p:nvPr/>
        </p:nvSpPr>
        <p:spPr>
          <a:xfrm>
            <a:off x="8749867" y="4745663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Used for enzymatic digestion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73CE3D6-4AF3-FBF8-5C2E-3C1D559AC80E}"/>
              </a:ext>
            </a:extLst>
          </p:cNvPr>
          <p:cNvSpPr txBox="1"/>
          <p:nvPr/>
        </p:nvSpPr>
        <p:spPr>
          <a:xfrm>
            <a:off x="8749867" y="541338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Absent in some species</a:t>
            </a:r>
          </a:p>
        </p:txBody>
      </p:sp>
      <p:sp>
        <p:nvSpPr>
          <p:cNvPr id="114" name="!!topic1words">
            <a:extLst>
              <a:ext uri="{FF2B5EF4-FFF2-40B4-BE49-F238E27FC236}">
                <a16:creationId xmlns:a16="http://schemas.microsoft.com/office/drawing/2014/main" id="{64D057E1-A432-FF0F-2EAC-BD140E0A70D8}"/>
              </a:ext>
            </a:extLst>
          </p:cNvPr>
          <p:cNvSpPr/>
          <p:nvPr/>
        </p:nvSpPr>
        <p:spPr>
          <a:xfrm>
            <a:off x="467378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F2E0925-2F26-5262-0DD0-5422F418B293}"/>
              </a:ext>
            </a:extLst>
          </p:cNvPr>
          <p:cNvSpPr txBox="1"/>
          <p:nvPr/>
        </p:nvSpPr>
        <p:spPr>
          <a:xfrm>
            <a:off x="483366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only tooth in birds appears …..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99597DF-2352-4CC8-E2D6-4BF9A978E3F5}"/>
              </a:ext>
            </a:extLst>
          </p:cNvPr>
          <p:cNvSpPr txBox="1"/>
          <p:nvPr/>
        </p:nvSpPr>
        <p:spPr>
          <a:xfrm>
            <a:off x="483366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adulthood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2594782-1C2F-B213-49D1-509A5D68A9F1}"/>
              </a:ext>
            </a:extLst>
          </p:cNvPr>
          <p:cNvSpPr txBox="1"/>
          <p:nvPr/>
        </p:nvSpPr>
        <p:spPr>
          <a:xfrm>
            <a:off x="4833662" y="3856339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flight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D67C5C3-FF8B-7FAB-540A-89281F8E21DE}"/>
              </a:ext>
            </a:extLst>
          </p:cNvPr>
          <p:cNvSpPr txBox="1"/>
          <p:nvPr/>
        </p:nvSpPr>
        <p:spPr>
          <a:xfrm>
            <a:off x="4833664" y="4314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While hatching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BCB3FA8-F0A2-0517-C4EC-F8FA4BA3E6DA}"/>
              </a:ext>
            </a:extLst>
          </p:cNvPr>
          <p:cNvSpPr txBox="1"/>
          <p:nvPr/>
        </p:nvSpPr>
        <p:spPr>
          <a:xfrm>
            <a:off x="4833664" y="477195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molting</a:t>
            </a:r>
          </a:p>
        </p:txBody>
      </p:sp>
      <p:sp>
        <p:nvSpPr>
          <p:cNvPr id="26" name="!!topic1words">
            <a:extLst>
              <a:ext uri="{FF2B5EF4-FFF2-40B4-BE49-F238E27FC236}">
                <a16:creationId xmlns:a16="http://schemas.microsoft.com/office/drawing/2014/main" id="{EB2C086A-F978-53C2-FCBB-06FB8A828C0B}"/>
              </a:ext>
            </a:extLst>
          </p:cNvPr>
          <p:cNvSpPr/>
          <p:nvPr/>
        </p:nvSpPr>
        <p:spPr>
          <a:xfrm>
            <a:off x="5977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D950C1-1ACA-C30F-6EFE-0A33414F0CF5}"/>
              </a:ext>
            </a:extLst>
          </p:cNvPr>
          <p:cNvSpPr txBox="1"/>
          <p:nvPr/>
        </p:nvSpPr>
        <p:spPr>
          <a:xfrm>
            <a:off x="75758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bird’s beak is made of …..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1D9B4C-E21C-7988-1A5B-684F359F75D3}"/>
              </a:ext>
            </a:extLst>
          </p:cNvPr>
          <p:cNvSpPr txBox="1"/>
          <p:nvPr/>
        </p:nvSpPr>
        <p:spPr>
          <a:xfrm>
            <a:off x="75758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Bone only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62C9DE-DA4C-B154-D0B3-01C6A3A14408}"/>
              </a:ext>
            </a:extLst>
          </p:cNvPr>
          <p:cNvSpPr txBox="1"/>
          <p:nvPr/>
        </p:nvSpPr>
        <p:spPr>
          <a:xfrm>
            <a:off x="757582" y="3873516"/>
            <a:ext cx="309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Hard keratinized epidermal structure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CEF97F6-7FC6-6F8F-ECB7-62C67D1B7828}"/>
              </a:ext>
            </a:extLst>
          </p:cNvPr>
          <p:cNvSpPr txBox="1"/>
          <p:nvPr/>
        </p:nvSpPr>
        <p:spPr>
          <a:xfrm>
            <a:off x="757584" y="4625502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Cartilage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BC21942-760C-143A-BBA1-6E89C726169A}"/>
              </a:ext>
            </a:extLst>
          </p:cNvPr>
          <p:cNvSpPr txBox="1"/>
          <p:nvPr/>
        </p:nvSpPr>
        <p:spPr>
          <a:xfrm>
            <a:off x="757584" y="5100489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Soft connective tissue</a:t>
            </a:r>
          </a:p>
        </p:txBody>
      </p:sp>
      <p:sp>
        <p:nvSpPr>
          <p:cNvPr id="31" name="Rectangle: Rounded Corners 30">
            <a:hlinkClick r:id="rId4" action="ppaction://hlinksldjump"/>
            <a:extLst>
              <a:ext uri="{FF2B5EF4-FFF2-40B4-BE49-F238E27FC236}">
                <a16:creationId xmlns:a16="http://schemas.microsoft.com/office/drawing/2014/main" id="{A1C36C38-715E-A2E5-CDAB-092E7F32E9E6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32" name="Rectangle: Rounded Corners 31">
            <a:hlinkClick r:id="rId5" action="ppaction://hlinksldjump"/>
            <a:extLst>
              <a:ext uri="{FF2B5EF4-FFF2-40B4-BE49-F238E27FC236}">
                <a16:creationId xmlns:a16="http://schemas.microsoft.com/office/drawing/2014/main" id="{9652A891-DAB7-90CB-5FA9-6FA18B0B02A7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136" name="!!MiddleBack">
            <a:extLst>
              <a:ext uri="{FF2B5EF4-FFF2-40B4-BE49-F238E27FC236}">
                <a16:creationId xmlns:a16="http://schemas.microsoft.com/office/drawing/2014/main" id="{3FAD7B87-3DFA-9D25-9164-5707B13FA6BE}"/>
              </a:ext>
            </a:extLst>
          </p:cNvPr>
          <p:cNvSpPr txBox="1"/>
          <p:nvPr/>
        </p:nvSpPr>
        <p:spPr>
          <a:xfrm>
            <a:off x="-3490275" y="1164495"/>
            <a:ext cx="26085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Dr. Naira</a:t>
            </a:r>
            <a:endParaRPr lang="ar-EG" sz="4400" b="1" dirty="0">
              <a:solidFill>
                <a:schemeClr val="bg1"/>
              </a:solidFill>
              <a:latin typeface="League Spartan" pitchFamily="2" charset="0"/>
            </a:endParaRPr>
          </a:p>
        </p:txBody>
      </p:sp>
      <p:sp>
        <p:nvSpPr>
          <p:cNvPr id="144" name="!!topicwords">
            <a:extLst>
              <a:ext uri="{FF2B5EF4-FFF2-40B4-BE49-F238E27FC236}">
                <a16:creationId xmlns:a16="http://schemas.microsoft.com/office/drawing/2014/main" id="{C68CC6DC-220F-0127-71AF-447B13AB1FFE}"/>
              </a:ext>
            </a:extLst>
          </p:cNvPr>
          <p:cNvSpPr/>
          <p:nvPr/>
        </p:nvSpPr>
        <p:spPr>
          <a:xfrm>
            <a:off x="127897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8BCF5D5-BD1F-459D-642E-2FB2C630D1EC}"/>
              </a:ext>
            </a:extLst>
          </p:cNvPr>
          <p:cNvSpPr txBox="1"/>
          <p:nvPr/>
        </p:nvSpPr>
        <p:spPr>
          <a:xfrm>
            <a:off x="1294958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function of the crop is …..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2AF92BDD-34DB-2872-A5BF-E5A74D5A968E}"/>
              </a:ext>
            </a:extLst>
          </p:cNvPr>
          <p:cNvSpPr txBox="1"/>
          <p:nvPr/>
        </p:nvSpPr>
        <p:spPr>
          <a:xfrm>
            <a:off x="12875890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Enzymatic digestion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7204E7C4-7789-627D-37BD-435C4B74566B}"/>
              </a:ext>
            </a:extLst>
          </p:cNvPr>
          <p:cNvSpPr txBox="1"/>
          <p:nvPr/>
        </p:nvSpPr>
        <p:spPr>
          <a:xfrm>
            <a:off x="12875889" y="3840736"/>
            <a:ext cx="3095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Temporary food storage and softening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1BB7CD5-30F4-8024-36AB-AF0492E3B3DC}"/>
              </a:ext>
            </a:extLst>
          </p:cNvPr>
          <p:cNvSpPr txBox="1"/>
          <p:nvPr/>
        </p:nvSpPr>
        <p:spPr>
          <a:xfrm>
            <a:off x="12949584" y="4559942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Absorption of nutrients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17F5092-9ED5-11AF-6BE6-C26F6AB5A9C1}"/>
              </a:ext>
            </a:extLst>
          </p:cNvPr>
          <p:cNvSpPr txBox="1"/>
          <p:nvPr/>
        </p:nvSpPr>
        <p:spPr>
          <a:xfrm>
            <a:off x="12949584" y="5279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Secretion of bile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54E6169F-E1E8-5E0E-1D3F-274A4A0EA13F}"/>
              </a:ext>
            </a:extLst>
          </p:cNvPr>
          <p:cNvSpPr/>
          <p:nvPr/>
        </p:nvSpPr>
        <p:spPr>
          <a:xfrm>
            <a:off x="9131300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Esophagus</a:t>
            </a:r>
          </a:p>
        </p:txBody>
      </p:sp>
      <p:sp>
        <p:nvSpPr>
          <p:cNvPr id="2" name="!!page1product">
            <a:extLst>
              <a:ext uri="{FF2B5EF4-FFF2-40B4-BE49-F238E27FC236}">
                <a16:creationId xmlns:a16="http://schemas.microsoft.com/office/drawing/2014/main" id="{C6F6A81E-ED7B-D267-A51D-B69C9C5A17CF}"/>
              </a:ext>
            </a:extLst>
          </p:cNvPr>
          <p:cNvSpPr/>
          <p:nvPr/>
        </p:nvSpPr>
        <p:spPr>
          <a:xfrm>
            <a:off x="3632797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!!page2product">
            <a:extLst>
              <a:ext uri="{FF2B5EF4-FFF2-40B4-BE49-F238E27FC236}">
                <a16:creationId xmlns:a16="http://schemas.microsoft.com/office/drawing/2014/main" id="{2471D456-CE85-4D5F-0B80-5BCAD6F176A3}"/>
              </a:ext>
            </a:extLst>
          </p:cNvPr>
          <p:cNvSpPr/>
          <p:nvPr/>
        </p:nvSpPr>
        <p:spPr>
          <a:xfrm>
            <a:off x="4902945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page3product">
            <a:extLst>
              <a:ext uri="{FF2B5EF4-FFF2-40B4-BE49-F238E27FC236}">
                <a16:creationId xmlns:a16="http://schemas.microsoft.com/office/drawing/2014/main" id="{8D6D4F0E-DDAE-9B8C-CE49-611E5494DFA9}"/>
              </a:ext>
            </a:extLst>
          </p:cNvPr>
          <p:cNvSpPr/>
          <p:nvPr/>
        </p:nvSpPr>
        <p:spPr>
          <a:xfrm>
            <a:off x="6173093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page4product">
            <a:extLst>
              <a:ext uri="{FF2B5EF4-FFF2-40B4-BE49-F238E27FC236}">
                <a16:creationId xmlns:a16="http://schemas.microsoft.com/office/drawing/2014/main" id="{049F125D-C50C-9F32-CBF7-446C0FCFB5E9}"/>
              </a:ext>
            </a:extLst>
          </p:cNvPr>
          <p:cNvSpPr/>
          <p:nvPr/>
        </p:nvSpPr>
        <p:spPr>
          <a:xfrm>
            <a:off x="7443242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xD">
            <a:extLst>
              <a:ext uri="{FF2B5EF4-FFF2-40B4-BE49-F238E27FC236}">
                <a16:creationId xmlns:a16="http://schemas.microsoft.com/office/drawing/2014/main" id="{2C57CE85-DF50-F359-44CB-143082E6C698}"/>
              </a:ext>
            </a:extLst>
          </p:cNvPr>
          <p:cNvSpPr/>
          <p:nvPr/>
        </p:nvSpPr>
        <p:spPr>
          <a:xfrm>
            <a:off x="12348174" y="0"/>
            <a:ext cx="819150" cy="6858000"/>
          </a:xfrm>
          <a:prstGeom prst="rect">
            <a:avLst/>
          </a:prstGeom>
          <a:gradFill>
            <a:gsLst>
              <a:gs pos="0">
                <a:srgbClr val="AD85FF">
                  <a:alpha val="0"/>
                </a:srgbClr>
              </a:gs>
              <a:gs pos="100000">
                <a:srgbClr val="6316FF"/>
              </a:gs>
            </a:gsLst>
            <a:lin ang="0" scaled="0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hlinkClick r:id="rId6" action="ppaction://hlinksldjump"/>
            <a:extLst>
              <a:ext uri="{FF2B5EF4-FFF2-40B4-BE49-F238E27FC236}">
                <a16:creationId xmlns:a16="http://schemas.microsoft.com/office/drawing/2014/main" id="{3A3B1971-1CEC-5FDF-4752-1B69CC7E517D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9" name="Rectangle: Rounded Corners 8">
            <a:hlinkClick r:id="rId7" action="ppaction://hlinksldjump"/>
            <a:extLst>
              <a:ext uri="{FF2B5EF4-FFF2-40B4-BE49-F238E27FC236}">
                <a16:creationId xmlns:a16="http://schemas.microsoft.com/office/drawing/2014/main" id="{BBC174C7-A1E2-6C42-A0D0-B9BA6E2699AA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A225E-7E4D-07F7-B292-462135F6EA69}"/>
              </a:ext>
            </a:extLst>
          </p:cNvPr>
          <p:cNvSpPr txBox="1"/>
          <p:nvPr/>
        </p:nvSpPr>
        <p:spPr>
          <a:xfrm>
            <a:off x="-2913800" y="2145836"/>
            <a:ext cx="2608592" cy="170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همس أحمد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هند رضا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منار مجدي 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ندى السيد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55004-82C2-F229-C720-BAC7AD173C55}"/>
              </a:ext>
            </a:extLst>
          </p:cNvPr>
          <p:cNvSpPr txBox="1"/>
          <p:nvPr/>
        </p:nvSpPr>
        <p:spPr>
          <a:xfrm>
            <a:off x="-4953198" y="2353585"/>
            <a:ext cx="2608592" cy="129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سما سامي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مروة عبدالله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وعد محمد</a:t>
            </a:r>
          </a:p>
        </p:txBody>
      </p:sp>
    </p:spTree>
    <p:extLst>
      <p:ext uri="{BB962C8B-B14F-4D97-AF65-F5344CB8AC3E}">
        <p14:creationId xmlns:p14="http://schemas.microsoft.com/office/powerpoint/2010/main" val="1143278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2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0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2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2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78" dur="500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0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2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" grpId="0" animBg="1"/>
      <p:bldP spid="127" grpId="0"/>
      <p:bldP spid="128" grpId="0" build="allAtOnce"/>
      <p:bldP spid="128" grpId="1" build="allAtOnce"/>
      <p:bldP spid="128" grpId="2" build="allAtOnce"/>
      <p:bldP spid="129" grpId="0" build="allAtOnce"/>
      <p:bldP spid="130" grpId="2" build="allAtOnce"/>
      <p:bldP spid="131" grpId="0"/>
      <p:bldP spid="114" grpId="0" animBg="1"/>
      <p:bldP spid="115" grpId="0"/>
      <p:bldP spid="116" grpId="0"/>
      <p:bldP spid="117" grpId="0" build="allAtOnce"/>
      <p:bldP spid="118" grpId="0" build="allAtOnce"/>
      <p:bldP spid="118" grpId="1" build="allAtOnce"/>
      <p:bldP spid="118" grpId="2" build="allAtOnce"/>
      <p:bldP spid="119" grpId="0"/>
      <p:bldP spid="58" grpId="0" build="allAtOnce"/>
      <p:bldP spid="58" grpId="1" build="allAtOnce"/>
      <p:bldP spid="152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C080C-EBC9-5EA9-8E43-82984D5B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4B610DB5-1508-C697-4563-4BA829563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14" name="!!topic1words">
            <a:extLst>
              <a:ext uri="{FF2B5EF4-FFF2-40B4-BE49-F238E27FC236}">
                <a16:creationId xmlns:a16="http://schemas.microsoft.com/office/drawing/2014/main" id="{1897228C-E112-15BD-6875-6E112431879B}"/>
              </a:ext>
            </a:extLst>
          </p:cNvPr>
          <p:cNvSpPr/>
          <p:nvPr/>
        </p:nvSpPr>
        <p:spPr>
          <a:xfrm>
            <a:off x="-3602839" y="1708054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494FA3-6D11-F4FA-F1E2-DE3A7DA80CB3}"/>
              </a:ext>
            </a:extLst>
          </p:cNvPr>
          <p:cNvSpPr txBox="1"/>
          <p:nvPr/>
        </p:nvSpPr>
        <p:spPr>
          <a:xfrm>
            <a:off x="-3442959" y="1956622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esophagus in birds is …..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CE0190-C8AF-47B1-7888-39F2571B4C4B}"/>
              </a:ext>
            </a:extLst>
          </p:cNvPr>
          <p:cNvSpPr txBox="1"/>
          <p:nvPr/>
        </p:nvSpPr>
        <p:spPr>
          <a:xfrm>
            <a:off x="-3442959" y="3115566"/>
            <a:ext cx="2775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muscular tube connecting mouth to stomach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44686D-ABF3-D014-4E4C-D6908DEF522E}"/>
              </a:ext>
            </a:extLst>
          </p:cNvPr>
          <p:cNvSpPr txBox="1"/>
          <p:nvPr/>
        </p:nvSpPr>
        <p:spPr>
          <a:xfrm>
            <a:off x="-3442961" y="4016277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Located on the left side of the neck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591040-5F29-F62E-C84C-5C28E759B954}"/>
              </a:ext>
            </a:extLst>
          </p:cNvPr>
          <p:cNvSpPr txBox="1"/>
          <p:nvPr/>
        </p:nvSpPr>
        <p:spPr>
          <a:xfrm>
            <a:off x="-3442959" y="4729694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Used for enzymatic digestion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E1F14-8495-20E2-9D6E-AE59B2D62A98}"/>
              </a:ext>
            </a:extLst>
          </p:cNvPr>
          <p:cNvSpPr txBox="1"/>
          <p:nvPr/>
        </p:nvSpPr>
        <p:spPr>
          <a:xfrm>
            <a:off x="-3442959" y="5397417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Absent in some species</a:t>
            </a:r>
          </a:p>
        </p:txBody>
      </p:sp>
      <p:sp>
        <p:nvSpPr>
          <p:cNvPr id="8" name="!!topic1words">
            <a:extLst>
              <a:ext uri="{FF2B5EF4-FFF2-40B4-BE49-F238E27FC236}">
                <a16:creationId xmlns:a16="http://schemas.microsoft.com/office/drawing/2014/main" id="{98E98DF9-CAA3-F8E4-0B4C-70BF2E14D4BF}"/>
              </a:ext>
            </a:extLst>
          </p:cNvPr>
          <p:cNvSpPr/>
          <p:nvPr/>
        </p:nvSpPr>
        <p:spPr>
          <a:xfrm>
            <a:off x="-7519042" y="1708054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8D7E0-A6E8-7D7A-D75E-0D9216DBD2FD}"/>
              </a:ext>
            </a:extLst>
          </p:cNvPr>
          <p:cNvSpPr txBox="1"/>
          <p:nvPr/>
        </p:nvSpPr>
        <p:spPr>
          <a:xfrm>
            <a:off x="-7359162" y="1956622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only tooth in birds appears …..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215AA8-2CCA-D448-8408-25775F70C63F}"/>
              </a:ext>
            </a:extLst>
          </p:cNvPr>
          <p:cNvSpPr txBox="1"/>
          <p:nvPr/>
        </p:nvSpPr>
        <p:spPr>
          <a:xfrm>
            <a:off x="-7359162" y="338256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adulthood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21CDD7-B5BE-E909-3D1A-3E0F67049EB4}"/>
              </a:ext>
            </a:extLst>
          </p:cNvPr>
          <p:cNvSpPr txBox="1"/>
          <p:nvPr/>
        </p:nvSpPr>
        <p:spPr>
          <a:xfrm>
            <a:off x="-7359164" y="3840370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flight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632AE2-081D-7131-D1DB-C66850867B45}"/>
              </a:ext>
            </a:extLst>
          </p:cNvPr>
          <p:cNvSpPr txBox="1"/>
          <p:nvPr/>
        </p:nvSpPr>
        <p:spPr>
          <a:xfrm>
            <a:off x="-7359162" y="429818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While hatching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FB4BEC-35CC-5E6E-BBAA-12830A7E8AEA}"/>
              </a:ext>
            </a:extLst>
          </p:cNvPr>
          <p:cNvSpPr txBox="1"/>
          <p:nvPr/>
        </p:nvSpPr>
        <p:spPr>
          <a:xfrm>
            <a:off x="-7359162" y="475599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During molting</a:t>
            </a:r>
          </a:p>
        </p:txBody>
      </p:sp>
      <p:sp>
        <p:nvSpPr>
          <p:cNvPr id="2" name="!!topic1words">
            <a:extLst>
              <a:ext uri="{FF2B5EF4-FFF2-40B4-BE49-F238E27FC236}">
                <a16:creationId xmlns:a16="http://schemas.microsoft.com/office/drawing/2014/main" id="{D063D31E-D81B-0E35-F981-9BC63646C6B8}"/>
              </a:ext>
            </a:extLst>
          </p:cNvPr>
          <p:cNvSpPr/>
          <p:nvPr/>
        </p:nvSpPr>
        <p:spPr>
          <a:xfrm>
            <a:off x="-11595122" y="1708054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64B64-FED7-0C86-A2E8-1476E8EA949A}"/>
              </a:ext>
            </a:extLst>
          </p:cNvPr>
          <p:cNvSpPr txBox="1"/>
          <p:nvPr/>
        </p:nvSpPr>
        <p:spPr>
          <a:xfrm>
            <a:off x="-11435242" y="1956622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bird’s beak is made of …..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B93DA-FDC0-0B87-B5CF-B9DBEFD4CC2E}"/>
              </a:ext>
            </a:extLst>
          </p:cNvPr>
          <p:cNvSpPr txBox="1"/>
          <p:nvPr/>
        </p:nvSpPr>
        <p:spPr>
          <a:xfrm>
            <a:off x="-11435242" y="338256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Bone only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A28EC-98B9-04E3-BD77-A19B3B66F950}"/>
              </a:ext>
            </a:extLst>
          </p:cNvPr>
          <p:cNvSpPr txBox="1"/>
          <p:nvPr/>
        </p:nvSpPr>
        <p:spPr>
          <a:xfrm>
            <a:off x="-11435244" y="3857547"/>
            <a:ext cx="309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Hard keratinized epidermal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B8F143-F13F-1B3F-5414-F3085C3E688C}"/>
              </a:ext>
            </a:extLst>
          </p:cNvPr>
          <p:cNvSpPr txBox="1"/>
          <p:nvPr/>
        </p:nvSpPr>
        <p:spPr>
          <a:xfrm>
            <a:off x="-11435242" y="4609533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Cartilage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B3266C-5C53-F429-2BF5-355227E95A91}"/>
              </a:ext>
            </a:extLst>
          </p:cNvPr>
          <p:cNvSpPr txBox="1"/>
          <p:nvPr/>
        </p:nvSpPr>
        <p:spPr>
          <a:xfrm>
            <a:off x="-11435242" y="5084520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Soft connective tissue</a:t>
            </a:r>
          </a:p>
        </p:txBody>
      </p:sp>
      <p:sp>
        <p:nvSpPr>
          <p:cNvPr id="26" name="!!topicwords">
            <a:extLst>
              <a:ext uri="{FF2B5EF4-FFF2-40B4-BE49-F238E27FC236}">
                <a16:creationId xmlns:a16="http://schemas.microsoft.com/office/drawing/2014/main" id="{0F6E55AE-90E9-968A-1609-6D0886DD052E}"/>
              </a:ext>
            </a:extLst>
          </p:cNvPr>
          <p:cNvSpPr/>
          <p:nvPr/>
        </p:nvSpPr>
        <p:spPr>
          <a:xfrm>
            <a:off x="5977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!!MiddleBack">
            <a:extLst>
              <a:ext uri="{FF2B5EF4-FFF2-40B4-BE49-F238E27FC236}">
                <a16:creationId xmlns:a16="http://schemas.microsoft.com/office/drawing/2014/main" id="{FC198471-3B87-2CD5-E209-4C24DA68BB02}"/>
              </a:ext>
            </a:extLst>
          </p:cNvPr>
          <p:cNvSpPr txBox="1"/>
          <p:nvPr/>
        </p:nvSpPr>
        <p:spPr>
          <a:xfrm>
            <a:off x="-1084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7A34B8-0A71-7686-2B83-A56024769E53}"/>
              </a:ext>
            </a:extLst>
          </p:cNvPr>
          <p:cNvSpPr txBox="1"/>
          <p:nvPr/>
        </p:nvSpPr>
        <p:spPr>
          <a:xfrm>
            <a:off x="75758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function of the crop is …..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7E1CC5-2474-6D23-E774-5576025E2E18}"/>
              </a:ext>
            </a:extLst>
          </p:cNvPr>
          <p:cNvSpPr txBox="1"/>
          <p:nvPr/>
        </p:nvSpPr>
        <p:spPr>
          <a:xfrm>
            <a:off x="683889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Enzymatic digestion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8198DF-077E-F15E-6995-D4F84AA26C31}"/>
              </a:ext>
            </a:extLst>
          </p:cNvPr>
          <p:cNvSpPr txBox="1"/>
          <p:nvPr/>
        </p:nvSpPr>
        <p:spPr>
          <a:xfrm>
            <a:off x="683889" y="3840736"/>
            <a:ext cx="3095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Temporary food storage and softening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7B6740-4BEA-79E1-61FC-2C3B2ACE7275}"/>
              </a:ext>
            </a:extLst>
          </p:cNvPr>
          <p:cNvSpPr txBox="1"/>
          <p:nvPr/>
        </p:nvSpPr>
        <p:spPr>
          <a:xfrm>
            <a:off x="683889" y="4559942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Absorption of nutrients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E63A050-3BF2-75E1-6531-CAAEC5C4AF8F}"/>
              </a:ext>
            </a:extLst>
          </p:cNvPr>
          <p:cNvSpPr txBox="1"/>
          <p:nvPr/>
        </p:nvSpPr>
        <p:spPr>
          <a:xfrm>
            <a:off x="683889" y="5279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Secretion of bile</a:t>
            </a:r>
          </a:p>
        </p:txBody>
      </p:sp>
      <p:sp>
        <p:nvSpPr>
          <p:cNvPr id="114" name="!!topic1words">
            <a:extLst>
              <a:ext uri="{FF2B5EF4-FFF2-40B4-BE49-F238E27FC236}">
                <a16:creationId xmlns:a16="http://schemas.microsoft.com/office/drawing/2014/main" id="{A8BAE926-1E93-C258-FD24-9EFCDE4F639D}"/>
              </a:ext>
            </a:extLst>
          </p:cNvPr>
          <p:cNvSpPr/>
          <p:nvPr/>
        </p:nvSpPr>
        <p:spPr>
          <a:xfrm>
            <a:off x="467378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DD68CAA-B8A2-7CDD-2432-991DF4BF1C85}"/>
              </a:ext>
            </a:extLst>
          </p:cNvPr>
          <p:cNvSpPr txBox="1"/>
          <p:nvPr/>
        </p:nvSpPr>
        <p:spPr>
          <a:xfrm>
            <a:off x="4820964" y="1909091"/>
            <a:ext cx="2854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Crop milk is produced in ….. and considered to be source of …..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EA758AA-7C55-FB7C-F18C-A20594DA4D11}"/>
              </a:ext>
            </a:extLst>
          </p:cNvPr>
          <p:cNvSpPr txBox="1"/>
          <p:nvPr/>
        </p:nvSpPr>
        <p:spPr>
          <a:xfrm>
            <a:off x="4833662" y="3592829"/>
            <a:ext cx="2935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birds - mycoplasma 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FD37130-89E2-C2DA-CEB3-4E6E01A30594}"/>
              </a:ext>
            </a:extLst>
          </p:cNvPr>
          <p:cNvSpPr txBox="1"/>
          <p:nvPr/>
        </p:nvSpPr>
        <p:spPr>
          <a:xfrm>
            <a:off x="4833662" y="4287052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Chicken only - E coli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B89F990-8BBF-CC02-4CAF-25657B4600BD}"/>
              </a:ext>
            </a:extLst>
          </p:cNvPr>
          <p:cNvSpPr txBox="1"/>
          <p:nvPr/>
        </p:nvSpPr>
        <p:spPr>
          <a:xfrm>
            <a:off x="4833662" y="470427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Pigeons and doves - Trichomoniasis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D455DC6-852F-F315-9964-543542923AC6}"/>
              </a:ext>
            </a:extLst>
          </p:cNvPr>
          <p:cNvSpPr txBox="1"/>
          <p:nvPr/>
        </p:nvSpPr>
        <p:spPr>
          <a:xfrm>
            <a:off x="4833662" y="5398498"/>
            <a:ext cx="2775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Ducks - mycobacterium avium</a:t>
            </a:r>
          </a:p>
        </p:txBody>
      </p:sp>
      <p:sp>
        <p:nvSpPr>
          <p:cNvPr id="126" name="!!topic1words">
            <a:extLst>
              <a:ext uri="{FF2B5EF4-FFF2-40B4-BE49-F238E27FC236}">
                <a16:creationId xmlns:a16="http://schemas.microsoft.com/office/drawing/2014/main" id="{A18200ED-7436-50E4-F0F7-F9F34781046F}"/>
              </a:ext>
            </a:extLst>
          </p:cNvPr>
          <p:cNvSpPr/>
          <p:nvPr/>
        </p:nvSpPr>
        <p:spPr>
          <a:xfrm>
            <a:off x="8589987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802FB34-1420-887A-C00F-136AC6886761}"/>
              </a:ext>
            </a:extLst>
          </p:cNvPr>
          <p:cNvSpPr txBox="1"/>
          <p:nvPr/>
        </p:nvSpPr>
        <p:spPr>
          <a:xfrm>
            <a:off x="8714450" y="1972591"/>
            <a:ext cx="293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main function of the intestinal ceca is …...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DE942E24-3CB2-E059-4E6D-A0E1554762D2}"/>
              </a:ext>
            </a:extLst>
          </p:cNvPr>
          <p:cNvSpPr txBox="1"/>
          <p:nvPr/>
        </p:nvSpPr>
        <p:spPr>
          <a:xfrm>
            <a:off x="8749867" y="342900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Secretion of bile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A80EED9-92A0-3F5C-CEB7-33F2CC834F99}"/>
              </a:ext>
            </a:extLst>
          </p:cNvPr>
          <p:cNvSpPr txBox="1"/>
          <p:nvPr/>
        </p:nvSpPr>
        <p:spPr>
          <a:xfrm>
            <a:off x="8749865" y="3842184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Water absorption and fiber digestion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821ED8B1-FD7B-D5BB-E3C9-82879E821964}"/>
              </a:ext>
            </a:extLst>
          </p:cNvPr>
          <p:cNvSpPr txBox="1"/>
          <p:nvPr/>
        </p:nvSpPr>
        <p:spPr>
          <a:xfrm>
            <a:off x="8749867" y="4532367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Protein synthesis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2B8FF4B-512B-A7D2-5F63-7D1BD3A46969}"/>
              </a:ext>
            </a:extLst>
          </p:cNvPr>
          <p:cNvSpPr/>
          <p:nvPr/>
        </p:nvSpPr>
        <p:spPr>
          <a:xfrm>
            <a:off x="-3092417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Esophagus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7C9E5C-73F1-DE73-8308-493F0EDA8FF6}"/>
              </a:ext>
            </a:extLst>
          </p:cNvPr>
          <p:cNvSpPr/>
          <p:nvPr/>
        </p:nvSpPr>
        <p:spPr>
          <a:xfrm>
            <a:off x="1055817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Crop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55BCB37-CC1C-FC18-3077-7783D86BB3D4}"/>
              </a:ext>
            </a:extLst>
          </p:cNvPr>
          <p:cNvSpPr/>
          <p:nvPr/>
        </p:nvSpPr>
        <p:spPr>
          <a:xfrm>
            <a:off x="9166319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Cecum </a:t>
            </a:r>
          </a:p>
        </p:txBody>
      </p:sp>
      <p:sp>
        <p:nvSpPr>
          <p:cNvPr id="24" name="!!topic315words">
            <a:extLst>
              <a:ext uri="{FF2B5EF4-FFF2-40B4-BE49-F238E27FC236}">
                <a16:creationId xmlns:a16="http://schemas.microsoft.com/office/drawing/2014/main" id="{8321731A-EF96-1E2C-A32E-85E596B16E26}"/>
              </a:ext>
            </a:extLst>
          </p:cNvPr>
          <p:cNvSpPr/>
          <p:nvPr/>
        </p:nvSpPr>
        <p:spPr>
          <a:xfrm>
            <a:off x="12840179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B903FC-F2C4-0775-4B9F-1ED355CE76DD}"/>
              </a:ext>
            </a:extLst>
          </p:cNvPr>
          <p:cNvSpPr txBox="1"/>
          <p:nvPr/>
        </p:nvSpPr>
        <p:spPr>
          <a:xfrm>
            <a:off x="13000059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birds, the liver …..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3A99B7-E27D-31F8-0FFA-72EAE6643E67}"/>
              </a:ext>
            </a:extLst>
          </p:cNvPr>
          <p:cNvSpPr txBox="1"/>
          <p:nvPr/>
        </p:nvSpPr>
        <p:spPr>
          <a:xfrm>
            <a:off x="12901998" y="3398529"/>
            <a:ext cx="297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left lobe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D288CC-89DD-ABAD-6DB8-B72990703347}"/>
              </a:ext>
            </a:extLst>
          </p:cNvPr>
          <p:cNvSpPr txBox="1"/>
          <p:nvPr/>
        </p:nvSpPr>
        <p:spPr>
          <a:xfrm>
            <a:off x="12901998" y="3864365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right lobe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A999F-9441-0A47-373D-D02BFBA56556}"/>
              </a:ext>
            </a:extLst>
          </p:cNvPr>
          <p:cNvSpPr txBox="1"/>
          <p:nvPr/>
        </p:nvSpPr>
        <p:spPr>
          <a:xfrm>
            <a:off x="12901998" y="433020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white in color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810581-13E0-0274-7C43-799C1A44325B}"/>
              </a:ext>
            </a:extLst>
          </p:cNvPr>
          <p:cNvSpPr txBox="1"/>
          <p:nvPr/>
        </p:nvSpPr>
        <p:spPr>
          <a:xfrm>
            <a:off x="12901998" y="479603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not involved in digestion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A4A4E4E-B2E5-FEF0-AC42-B8C8274D134C}"/>
              </a:ext>
            </a:extLst>
          </p:cNvPr>
          <p:cNvSpPr/>
          <p:nvPr/>
        </p:nvSpPr>
        <p:spPr>
          <a:xfrm>
            <a:off x="13371987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Liver </a:t>
            </a:r>
          </a:p>
        </p:txBody>
      </p:sp>
      <p:sp>
        <p:nvSpPr>
          <p:cNvPr id="45" name="!!page1product">
            <a:extLst>
              <a:ext uri="{FF2B5EF4-FFF2-40B4-BE49-F238E27FC236}">
                <a16:creationId xmlns:a16="http://schemas.microsoft.com/office/drawing/2014/main" id="{5F6D48B7-BB72-315D-36C4-76A1E7E535F0}"/>
              </a:ext>
            </a:extLst>
          </p:cNvPr>
          <p:cNvSpPr/>
          <p:nvPr/>
        </p:nvSpPr>
        <p:spPr>
          <a:xfrm>
            <a:off x="3632797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!!page2product">
            <a:extLst>
              <a:ext uri="{FF2B5EF4-FFF2-40B4-BE49-F238E27FC236}">
                <a16:creationId xmlns:a16="http://schemas.microsoft.com/office/drawing/2014/main" id="{549EA0EB-4A35-CE32-748C-FCA3B7DD31F7}"/>
              </a:ext>
            </a:extLst>
          </p:cNvPr>
          <p:cNvSpPr/>
          <p:nvPr/>
        </p:nvSpPr>
        <p:spPr>
          <a:xfrm>
            <a:off x="4902945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47" name="!!page3product">
            <a:extLst>
              <a:ext uri="{FF2B5EF4-FFF2-40B4-BE49-F238E27FC236}">
                <a16:creationId xmlns:a16="http://schemas.microsoft.com/office/drawing/2014/main" id="{9E49D27D-573F-F155-70BC-E5F848FF98BD}"/>
              </a:ext>
            </a:extLst>
          </p:cNvPr>
          <p:cNvSpPr/>
          <p:nvPr/>
        </p:nvSpPr>
        <p:spPr>
          <a:xfrm>
            <a:off x="6173093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!!page4product">
            <a:extLst>
              <a:ext uri="{FF2B5EF4-FFF2-40B4-BE49-F238E27FC236}">
                <a16:creationId xmlns:a16="http://schemas.microsoft.com/office/drawing/2014/main" id="{F555A694-0FCA-6858-C4A8-41D06EA547CC}"/>
              </a:ext>
            </a:extLst>
          </p:cNvPr>
          <p:cNvSpPr/>
          <p:nvPr/>
        </p:nvSpPr>
        <p:spPr>
          <a:xfrm>
            <a:off x="7443242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hlinkClick r:id="rId4" action="ppaction://hlinksldjump"/>
            <a:extLst>
              <a:ext uri="{FF2B5EF4-FFF2-40B4-BE49-F238E27FC236}">
                <a16:creationId xmlns:a16="http://schemas.microsoft.com/office/drawing/2014/main" id="{A3A56FEB-97F0-D58F-A737-6C96E5311D28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42" name="Rectangle: Rounded Corners 41">
            <a:hlinkClick r:id="rId5" action="ppaction://hlinksldjump"/>
            <a:extLst>
              <a:ext uri="{FF2B5EF4-FFF2-40B4-BE49-F238E27FC236}">
                <a16:creationId xmlns:a16="http://schemas.microsoft.com/office/drawing/2014/main" id="{E875FBE1-1D2E-EBFF-4AF4-3DE05FFA1D11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43" name="Rectangle: Rounded Corners 42">
            <a:hlinkClick r:id="rId6" action="ppaction://hlinksldjump"/>
            <a:extLst>
              <a:ext uri="{FF2B5EF4-FFF2-40B4-BE49-F238E27FC236}">
                <a16:creationId xmlns:a16="http://schemas.microsoft.com/office/drawing/2014/main" id="{F9365BF5-B05C-BDB1-A5AB-E286D4B4B153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44" name="Rectangle: Rounded Corners 43">
            <a:hlinkClick r:id="rId7" action="ppaction://hlinksldjump"/>
            <a:extLst>
              <a:ext uri="{FF2B5EF4-FFF2-40B4-BE49-F238E27FC236}">
                <a16:creationId xmlns:a16="http://schemas.microsoft.com/office/drawing/2014/main" id="{D7DB2074-C0BA-1BDD-57E6-2A8BD7977C9A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</p:spTree>
    <p:extLst>
      <p:ext uri="{BB962C8B-B14F-4D97-AF65-F5344CB8AC3E}">
        <p14:creationId xmlns:p14="http://schemas.microsoft.com/office/powerpoint/2010/main" val="1439680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2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4" dur="50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6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8" dur="500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0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1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7" grpId="0"/>
      <p:bldP spid="18" grpId="0"/>
      <p:bldP spid="19" grpId="0"/>
      <p:bldP spid="8" grpId="0" animBg="1"/>
      <p:bldP spid="9" grpId="0"/>
      <p:bldP spid="10" grpId="0"/>
      <p:bldP spid="11" grpId="0"/>
      <p:bldP spid="12" grpId="0"/>
      <p:bldP spid="13" grpId="0"/>
      <p:bldP spid="2" grpId="0" animBg="1"/>
      <p:bldP spid="3" grpId="0"/>
      <p:bldP spid="4" grpId="0"/>
      <p:bldP spid="5" grpId="0"/>
      <p:bldP spid="6" grpId="0"/>
      <p:bldP spid="7" grpId="0"/>
      <p:bldP spid="58" grpId="0" build="allAtOnce"/>
      <p:bldP spid="58" grpId="1" build="allAtOnce"/>
      <p:bldP spid="114" grpId="0" animBg="1"/>
      <p:bldP spid="115" grpId="0"/>
      <p:bldP spid="116" grpId="0"/>
      <p:bldP spid="117" grpId="0" build="allAtOnce"/>
      <p:bldP spid="118" grpId="0" build="allAtOnce"/>
      <p:bldP spid="118" grpId="1" build="allAtOnce"/>
      <p:bldP spid="118" grpId="2" build="allAtOnce"/>
      <p:bldP spid="119" grpId="0"/>
      <p:bldP spid="126" grpId="0" animBg="1"/>
      <p:bldP spid="127" grpId="0"/>
      <p:bldP spid="128" grpId="0" build="allAtOnce"/>
      <p:bldP spid="129" grpId="0" build="allAtOnce"/>
      <p:bldP spid="129" grpId="1" build="allAtOnce"/>
      <p:bldP spid="129" grpId="2" build="allAtOnce"/>
      <p:bldP spid="130" grpId="0" build="allAtOnce"/>
      <p:bldP spid="20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3F8FD-1A08-B230-EC1E-7ACD609D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05BA14E3-29A7-A6C4-4BE8-0B249D153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35" name="!!MiddleBack">
            <a:extLst>
              <a:ext uri="{FF2B5EF4-FFF2-40B4-BE49-F238E27FC236}">
                <a16:creationId xmlns:a16="http://schemas.microsoft.com/office/drawing/2014/main" id="{A9DAC102-475F-86A4-7B3F-E7998CAA265E}"/>
              </a:ext>
            </a:extLst>
          </p:cNvPr>
          <p:cNvSpPr txBox="1"/>
          <p:nvPr/>
        </p:nvSpPr>
        <p:spPr>
          <a:xfrm>
            <a:off x="-1084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20" name="!!topic1words">
            <a:extLst>
              <a:ext uri="{FF2B5EF4-FFF2-40B4-BE49-F238E27FC236}">
                <a16:creationId xmlns:a16="http://schemas.microsoft.com/office/drawing/2014/main" id="{6AC6B8BA-2BA8-C18D-1C9F-5F38EB7C538B}"/>
              </a:ext>
            </a:extLst>
          </p:cNvPr>
          <p:cNvSpPr/>
          <p:nvPr/>
        </p:nvSpPr>
        <p:spPr>
          <a:xfrm>
            <a:off x="8589987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9F34C1-7449-FD1F-52BA-588350484269}"/>
              </a:ext>
            </a:extLst>
          </p:cNvPr>
          <p:cNvSpPr txBox="1"/>
          <p:nvPr/>
        </p:nvSpPr>
        <p:spPr>
          <a:xfrm>
            <a:off x="8749867" y="1972591"/>
            <a:ext cx="2775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No. of air sac is …..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75FED8-4C59-C11B-8868-AD5B94FD4AEA}"/>
              </a:ext>
            </a:extLst>
          </p:cNvPr>
          <p:cNvSpPr txBox="1"/>
          <p:nvPr/>
        </p:nvSpPr>
        <p:spPr>
          <a:xfrm>
            <a:off x="8749867" y="3131535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65A799-3E48-869F-3B9A-60D940BE5D83}"/>
              </a:ext>
            </a:extLst>
          </p:cNvPr>
          <p:cNvSpPr txBox="1"/>
          <p:nvPr/>
        </p:nvSpPr>
        <p:spPr>
          <a:xfrm>
            <a:off x="8749865" y="3572507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BBD25F-7F30-EAFA-2F86-B6B40268A700}"/>
              </a:ext>
            </a:extLst>
          </p:cNvPr>
          <p:cNvSpPr txBox="1"/>
          <p:nvPr/>
        </p:nvSpPr>
        <p:spPr>
          <a:xfrm>
            <a:off x="8749866" y="401348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15</a:t>
            </a:r>
          </a:p>
        </p:txBody>
      </p:sp>
      <p:sp>
        <p:nvSpPr>
          <p:cNvPr id="27" name="!!topic1words">
            <a:extLst>
              <a:ext uri="{FF2B5EF4-FFF2-40B4-BE49-F238E27FC236}">
                <a16:creationId xmlns:a16="http://schemas.microsoft.com/office/drawing/2014/main" id="{9FFEE0CC-6C57-BAF7-17E7-F7B403DECD2C}"/>
              </a:ext>
            </a:extLst>
          </p:cNvPr>
          <p:cNvSpPr/>
          <p:nvPr/>
        </p:nvSpPr>
        <p:spPr>
          <a:xfrm>
            <a:off x="467378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7DBFB3-DA00-FD9D-044B-4CD977969793}"/>
              </a:ext>
            </a:extLst>
          </p:cNvPr>
          <p:cNvSpPr txBox="1"/>
          <p:nvPr/>
        </p:nvSpPr>
        <p:spPr>
          <a:xfrm>
            <a:off x="483366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Site for tracheal swab …..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13F022D-495D-7F83-D938-C2AF8BA9C9A1}"/>
              </a:ext>
            </a:extLst>
          </p:cNvPr>
          <p:cNvSpPr txBox="1"/>
          <p:nvPr/>
        </p:nvSpPr>
        <p:spPr>
          <a:xfrm>
            <a:off x="483366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Trachea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D4EA1FA-7F6E-6700-EDE5-1651F3E723AA}"/>
              </a:ext>
            </a:extLst>
          </p:cNvPr>
          <p:cNvSpPr txBox="1"/>
          <p:nvPr/>
        </p:nvSpPr>
        <p:spPr>
          <a:xfrm>
            <a:off x="4833662" y="3856339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005D69-0C7B-C61B-BC84-5B990B2AD45E}"/>
              </a:ext>
            </a:extLst>
          </p:cNvPr>
          <p:cNvSpPr txBox="1"/>
          <p:nvPr/>
        </p:nvSpPr>
        <p:spPr>
          <a:xfrm>
            <a:off x="4833664" y="4314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Larynx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52325C-CAAA-262D-ED5C-FF1B6F0A7D32}"/>
              </a:ext>
            </a:extLst>
          </p:cNvPr>
          <p:cNvSpPr txBox="1"/>
          <p:nvPr/>
        </p:nvSpPr>
        <p:spPr>
          <a:xfrm>
            <a:off x="4833664" y="477195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Glottis</a:t>
            </a:r>
          </a:p>
        </p:txBody>
      </p:sp>
      <p:sp>
        <p:nvSpPr>
          <p:cNvPr id="38" name="!!topic315words">
            <a:extLst>
              <a:ext uri="{FF2B5EF4-FFF2-40B4-BE49-F238E27FC236}">
                <a16:creationId xmlns:a16="http://schemas.microsoft.com/office/drawing/2014/main" id="{54BB5CF9-68EC-4D18-B256-86430FB66133}"/>
              </a:ext>
            </a:extLst>
          </p:cNvPr>
          <p:cNvSpPr/>
          <p:nvPr/>
        </p:nvSpPr>
        <p:spPr>
          <a:xfrm>
            <a:off x="5977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29C934C-DD29-97E0-8493-7AF2FCD55891}"/>
              </a:ext>
            </a:extLst>
          </p:cNvPr>
          <p:cNvSpPr txBox="1"/>
          <p:nvPr/>
        </p:nvSpPr>
        <p:spPr>
          <a:xfrm>
            <a:off x="75758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birds, the liver …..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547C69-4D21-2C11-BE8A-3FA72E40F1FC}"/>
              </a:ext>
            </a:extLst>
          </p:cNvPr>
          <p:cNvSpPr txBox="1"/>
          <p:nvPr/>
        </p:nvSpPr>
        <p:spPr>
          <a:xfrm>
            <a:off x="659523" y="3398529"/>
            <a:ext cx="297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left lobe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9207AC-4199-0A91-58E7-228D8E2CC1C7}"/>
              </a:ext>
            </a:extLst>
          </p:cNvPr>
          <p:cNvSpPr txBox="1"/>
          <p:nvPr/>
        </p:nvSpPr>
        <p:spPr>
          <a:xfrm>
            <a:off x="659523" y="3864365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right lobe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7B9111-B09B-3E16-6BE6-0BD28CD9ADD7}"/>
              </a:ext>
            </a:extLst>
          </p:cNvPr>
          <p:cNvSpPr txBox="1"/>
          <p:nvPr/>
        </p:nvSpPr>
        <p:spPr>
          <a:xfrm>
            <a:off x="659523" y="433020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white in color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8C1B28-41FA-DC92-2C9B-E5937E4DEE79}"/>
              </a:ext>
            </a:extLst>
          </p:cNvPr>
          <p:cNvSpPr txBox="1"/>
          <p:nvPr/>
        </p:nvSpPr>
        <p:spPr>
          <a:xfrm>
            <a:off x="659523" y="479603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not involved in digestion</a:t>
            </a:r>
          </a:p>
        </p:txBody>
      </p:sp>
      <p:sp>
        <p:nvSpPr>
          <p:cNvPr id="50" name="!!topicwords">
            <a:extLst>
              <a:ext uri="{FF2B5EF4-FFF2-40B4-BE49-F238E27FC236}">
                <a16:creationId xmlns:a16="http://schemas.microsoft.com/office/drawing/2014/main" id="{5BD945C4-E308-DBD8-3C7F-DDF482F4C345}"/>
              </a:ext>
            </a:extLst>
          </p:cNvPr>
          <p:cNvSpPr/>
          <p:nvPr/>
        </p:nvSpPr>
        <p:spPr>
          <a:xfrm>
            <a:off x="-12111538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0D1AC5-BA0B-C7B8-A8B0-0BE55B9CAADC}"/>
              </a:ext>
            </a:extLst>
          </p:cNvPr>
          <p:cNvSpPr txBox="1"/>
          <p:nvPr/>
        </p:nvSpPr>
        <p:spPr>
          <a:xfrm>
            <a:off x="-11951658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function of the crop is …..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E4A19D3-26E3-5EB3-66FC-5E703AA25156}"/>
              </a:ext>
            </a:extLst>
          </p:cNvPr>
          <p:cNvSpPr txBox="1"/>
          <p:nvPr/>
        </p:nvSpPr>
        <p:spPr>
          <a:xfrm>
            <a:off x="-12025353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Enzymatic digestion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9F668E-F1EB-E075-A8EA-AD9D33946687}"/>
              </a:ext>
            </a:extLst>
          </p:cNvPr>
          <p:cNvSpPr txBox="1"/>
          <p:nvPr/>
        </p:nvSpPr>
        <p:spPr>
          <a:xfrm>
            <a:off x="-12025353" y="3840736"/>
            <a:ext cx="3095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Temporary food storage and softening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91FCE1F-5944-BFC9-C8DE-BCC93977F2BB}"/>
              </a:ext>
            </a:extLst>
          </p:cNvPr>
          <p:cNvSpPr txBox="1"/>
          <p:nvPr/>
        </p:nvSpPr>
        <p:spPr>
          <a:xfrm>
            <a:off x="-12025353" y="4559942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Absorption of nutrients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4C152D-1EC8-BD48-9313-99B44B651A03}"/>
              </a:ext>
            </a:extLst>
          </p:cNvPr>
          <p:cNvSpPr txBox="1"/>
          <p:nvPr/>
        </p:nvSpPr>
        <p:spPr>
          <a:xfrm>
            <a:off x="-12025353" y="5279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Secretion of bile</a:t>
            </a:r>
          </a:p>
        </p:txBody>
      </p:sp>
      <p:sp>
        <p:nvSpPr>
          <p:cNvPr id="61" name="!!topic1words">
            <a:extLst>
              <a:ext uri="{FF2B5EF4-FFF2-40B4-BE49-F238E27FC236}">
                <a16:creationId xmlns:a16="http://schemas.microsoft.com/office/drawing/2014/main" id="{4487B98F-03B6-3ED1-E2F2-26466762F910}"/>
              </a:ext>
            </a:extLst>
          </p:cNvPr>
          <p:cNvSpPr/>
          <p:nvPr/>
        </p:nvSpPr>
        <p:spPr>
          <a:xfrm>
            <a:off x="-8035458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DF4028-C885-0407-7AE4-BE8233EF7C3D}"/>
              </a:ext>
            </a:extLst>
          </p:cNvPr>
          <p:cNvSpPr txBox="1"/>
          <p:nvPr/>
        </p:nvSpPr>
        <p:spPr>
          <a:xfrm>
            <a:off x="-7888278" y="1909091"/>
            <a:ext cx="2854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Crop milk is produced in ….. and considered to be source of …..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5318D1-7302-1EA5-671B-4CEFE7E6794E}"/>
              </a:ext>
            </a:extLst>
          </p:cNvPr>
          <p:cNvSpPr txBox="1"/>
          <p:nvPr/>
        </p:nvSpPr>
        <p:spPr>
          <a:xfrm>
            <a:off x="-7875580" y="3592829"/>
            <a:ext cx="29357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birds - mycoplasma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BB9A61-CC15-648C-F508-DC565AF15AFE}"/>
              </a:ext>
            </a:extLst>
          </p:cNvPr>
          <p:cNvSpPr txBox="1"/>
          <p:nvPr/>
        </p:nvSpPr>
        <p:spPr>
          <a:xfrm>
            <a:off x="-7875580" y="4287052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Chicken only - E coli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D3EFFB-78DD-F12E-5E41-12B698E8B88B}"/>
              </a:ext>
            </a:extLst>
          </p:cNvPr>
          <p:cNvSpPr txBox="1"/>
          <p:nvPr/>
        </p:nvSpPr>
        <p:spPr>
          <a:xfrm>
            <a:off x="-7875580" y="470427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Pigeons and doves - Trichomoniasis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357F42-BDD7-393A-4F94-C3AE523097A3}"/>
              </a:ext>
            </a:extLst>
          </p:cNvPr>
          <p:cNvSpPr txBox="1"/>
          <p:nvPr/>
        </p:nvSpPr>
        <p:spPr>
          <a:xfrm>
            <a:off x="-7875580" y="5398498"/>
            <a:ext cx="2775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Ducks - mycobacterium avium</a:t>
            </a:r>
          </a:p>
        </p:txBody>
      </p:sp>
      <p:sp>
        <p:nvSpPr>
          <p:cNvPr id="67" name="!!topic1words">
            <a:extLst>
              <a:ext uri="{FF2B5EF4-FFF2-40B4-BE49-F238E27FC236}">
                <a16:creationId xmlns:a16="http://schemas.microsoft.com/office/drawing/2014/main" id="{A5D8BDC6-C664-A50B-E633-E723640BE62C}"/>
              </a:ext>
            </a:extLst>
          </p:cNvPr>
          <p:cNvSpPr/>
          <p:nvPr/>
        </p:nvSpPr>
        <p:spPr>
          <a:xfrm>
            <a:off x="-4119255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C5C272-4EEA-E5E0-0B67-9EA6C6583FC8}"/>
              </a:ext>
            </a:extLst>
          </p:cNvPr>
          <p:cNvSpPr txBox="1"/>
          <p:nvPr/>
        </p:nvSpPr>
        <p:spPr>
          <a:xfrm>
            <a:off x="-3994792" y="1972591"/>
            <a:ext cx="293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main function of the intestinal ceca is …...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FDAB29-BACA-BE15-0DA7-AE3D2415993B}"/>
              </a:ext>
            </a:extLst>
          </p:cNvPr>
          <p:cNvSpPr txBox="1"/>
          <p:nvPr/>
        </p:nvSpPr>
        <p:spPr>
          <a:xfrm>
            <a:off x="-3959375" y="342900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Secretion of bile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76755C6-5510-8ED0-646A-4A4028A59C00}"/>
              </a:ext>
            </a:extLst>
          </p:cNvPr>
          <p:cNvSpPr txBox="1"/>
          <p:nvPr/>
        </p:nvSpPr>
        <p:spPr>
          <a:xfrm>
            <a:off x="-3959377" y="3842184"/>
            <a:ext cx="2775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Water absorption and fiber digestion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9E96D6E-845B-3D32-CEE8-5D5F34533D4A}"/>
              </a:ext>
            </a:extLst>
          </p:cNvPr>
          <p:cNvSpPr txBox="1"/>
          <p:nvPr/>
        </p:nvSpPr>
        <p:spPr>
          <a:xfrm>
            <a:off x="-3959375" y="4532367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Protein synthesis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F23E30E9-3100-9DC5-D3AB-3A484A920C13}"/>
              </a:ext>
            </a:extLst>
          </p:cNvPr>
          <p:cNvSpPr/>
          <p:nvPr/>
        </p:nvSpPr>
        <p:spPr>
          <a:xfrm>
            <a:off x="-11653425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Crop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EB26AD2-F641-7154-E582-CA8ED59C84B3}"/>
              </a:ext>
            </a:extLst>
          </p:cNvPr>
          <p:cNvSpPr/>
          <p:nvPr/>
        </p:nvSpPr>
        <p:spPr>
          <a:xfrm>
            <a:off x="-3542923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Cecum 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F7CF9919-1E0D-3822-4BA9-D15A9DBA4E2B}"/>
              </a:ext>
            </a:extLst>
          </p:cNvPr>
          <p:cNvSpPr/>
          <p:nvPr/>
        </p:nvSpPr>
        <p:spPr>
          <a:xfrm>
            <a:off x="1129512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Liver </a:t>
            </a:r>
          </a:p>
        </p:txBody>
      </p:sp>
      <p:sp>
        <p:nvSpPr>
          <p:cNvPr id="2" name="!!topic20100words">
            <a:extLst>
              <a:ext uri="{FF2B5EF4-FFF2-40B4-BE49-F238E27FC236}">
                <a16:creationId xmlns:a16="http://schemas.microsoft.com/office/drawing/2014/main" id="{C6E9DCE4-2C23-237A-44FC-299A0C4D8622}"/>
              </a:ext>
            </a:extLst>
          </p:cNvPr>
          <p:cNvSpPr/>
          <p:nvPr/>
        </p:nvSpPr>
        <p:spPr>
          <a:xfrm>
            <a:off x="12972312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4E24C-9146-0788-757C-EB3907527988}"/>
              </a:ext>
            </a:extLst>
          </p:cNvPr>
          <p:cNvSpPr txBox="1"/>
          <p:nvPr/>
        </p:nvSpPr>
        <p:spPr>
          <a:xfrm>
            <a:off x="13132192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case of 7 air sac ….. is absent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45F3A-05CF-A038-C06E-EE85F86A3A1F}"/>
              </a:ext>
            </a:extLst>
          </p:cNvPr>
          <p:cNvSpPr txBox="1"/>
          <p:nvPr/>
        </p:nvSpPr>
        <p:spPr>
          <a:xfrm>
            <a:off x="13132192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Cervical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4FE3B-965E-931F-1790-B6F087695A2E}"/>
              </a:ext>
            </a:extLst>
          </p:cNvPr>
          <p:cNvSpPr txBox="1"/>
          <p:nvPr/>
        </p:nvSpPr>
        <p:spPr>
          <a:xfrm>
            <a:off x="13132190" y="3853887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Thoracic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D8E7B-1F90-C672-63C7-560F4B9C66DC}"/>
              </a:ext>
            </a:extLst>
          </p:cNvPr>
          <p:cNvSpPr txBox="1"/>
          <p:nvPr/>
        </p:nvSpPr>
        <p:spPr>
          <a:xfrm>
            <a:off x="13132192" y="4309245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Abdominal</a:t>
            </a:r>
          </a:p>
        </p:txBody>
      </p:sp>
      <p:sp>
        <p:nvSpPr>
          <p:cNvPr id="7" name="!!page1product">
            <a:extLst>
              <a:ext uri="{FF2B5EF4-FFF2-40B4-BE49-F238E27FC236}">
                <a16:creationId xmlns:a16="http://schemas.microsoft.com/office/drawing/2014/main" id="{99CF84B7-957E-03AA-2549-FA57FFD04315}"/>
              </a:ext>
            </a:extLst>
          </p:cNvPr>
          <p:cNvSpPr/>
          <p:nvPr/>
        </p:nvSpPr>
        <p:spPr>
          <a:xfrm>
            <a:off x="3632797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page2product">
            <a:extLst>
              <a:ext uri="{FF2B5EF4-FFF2-40B4-BE49-F238E27FC236}">
                <a16:creationId xmlns:a16="http://schemas.microsoft.com/office/drawing/2014/main" id="{055B85D7-C809-8812-86F4-39AF7A30C526}"/>
              </a:ext>
            </a:extLst>
          </p:cNvPr>
          <p:cNvSpPr/>
          <p:nvPr/>
        </p:nvSpPr>
        <p:spPr>
          <a:xfrm>
            <a:off x="4902945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page3product">
            <a:extLst>
              <a:ext uri="{FF2B5EF4-FFF2-40B4-BE49-F238E27FC236}">
                <a16:creationId xmlns:a16="http://schemas.microsoft.com/office/drawing/2014/main" id="{BD95FBCA-F4F2-1676-F98B-839EDBBEF042}"/>
              </a:ext>
            </a:extLst>
          </p:cNvPr>
          <p:cNvSpPr/>
          <p:nvPr/>
        </p:nvSpPr>
        <p:spPr>
          <a:xfrm>
            <a:off x="6173093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0" name="!!page4product">
            <a:extLst>
              <a:ext uri="{FF2B5EF4-FFF2-40B4-BE49-F238E27FC236}">
                <a16:creationId xmlns:a16="http://schemas.microsoft.com/office/drawing/2014/main" id="{F3016128-D61E-7004-3E5B-FF2C1C366FE2}"/>
              </a:ext>
            </a:extLst>
          </p:cNvPr>
          <p:cNvSpPr/>
          <p:nvPr/>
        </p:nvSpPr>
        <p:spPr>
          <a:xfrm>
            <a:off x="7443242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hlinkClick r:id="rId4" action="ppaction://hlinksldjump"/>
            <a:extLst>
              <a:ext uri="{FF2B5EF4-FFF2-40B4-BE49-F238E27FC236}">
                <a16:creationId xmlns:a16="http://schemas.microsoft.com/office/drawing/2014/main" id="{85AB4359-30E0-07C4-B817-6B2E5E344A53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13" name="Rectangle: Rounded Corners 12">
            <a:hlinkClick r:id="rId5" action="ppaction://hlinksldjump"/>
            <a:extLst>
              <a:ext uri="{FF2B5EF4-FFF2-40B4-BE49-F238E27FC236}">
                <a16:creationId xmlns:a16="http://schemas.microsoft.com/office/drawing/2014/main" id="{66A09708-0090-8F40-B32D-B007EA71D7AA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14" name="Rectangle: Rounded Corners 13">
            <a:hlinkClick r:id="rId6" action="ppaction://hlinksldjump"/>
            <a:extLst>
              <a:ext uri="{FF2B5EF4-FFF2-40B4-BE49-F238E27FC236}">
                <a16:creationId xmlns:a16="http://schemas.microsoft.com/office/drawing/2014/main" id="{ACE3AEC3-6779-AD31-3F86-2EB805D6D382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15" name="Rectangle: Rounded Corners 14">
            <a:hlinkClick r:id="rId7" action="ppaction://hlinksldjump"/>
            <a:extLst>
              <a:ext uri="{FF2B5EF4-FFF2-40B4-BE49-F238E27FC236}">
                <a16:creationId xmlns:a16="http://schemas.microsoft.com/office/drawing/2014/main" id="{73182AC0-B2B6-7CCC-D6BB-8FD68F1C8C2F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</p:spTree>
    <p:extLst>
      <p:ext uri="{BB962C8B-B14F-4D97-AF65-F5344CB8AC3E}">
        <p14:creationId xmlns:p14="http://schemas.microsoft.com/office/powerpoint/2010/main" val="4029798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5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2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6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5" presetClass="emph" presetSubtype="0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6" presetClass="emph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1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/>
      <p:bldP spid="22" grpId="0" build="allAtOnce"/>
      <p:bldP spid="22" grpId="1" build="allAtOnce"/>
      <p:bldP spid="22" grpId="2" build="allAtOnce"/>
      <p:bldP spid="23" grpId="0" build="allAtOnce"/>
      <p:bldP spid="24" grpId="0" build="allAtOnce"/>
      <p:bldP spid="27" grpId="0" animBg="1"/>
      <p:bldP spid="28" grpId="0"/>
      <p:bldP spid="29" grpId="0"/>
      <p:bldP spid="33" grpId="0" build="allAtOnce"/>
      <p:bldP spid="36" grpId="2" build="allAtOnce"/>
      <p:bldP spid="37" grpId="0" build="allAtOnce"/>
      <p:bldP spid="37" grpId="1" build="allAtOnce"/>
      <p:bldP spid="37" grpId="2" build="allAtOnce"/>
      <p:bldP spid="41" grpId="0" build="allAtOnce"/>
      <p:bldP spid="41" grpId="1" build="allAtOnce"/>
      <p:bldP spid="50" grpId="0" animBg="1"/>
      <p:bldP spid="51" grpId="0"/>
      <p:bldP spid="52" grpId="0"/>
      <p:bldP spid="53" grpId="0"/>
      <p:bldP spid="55" grpId="0"/>
      <p:bldP spid="56" grpId="0"/>
      <p:bldP spid="61" grpId="0" animBg="1"/>
      <p:bldP spid="62" grpId="0"/>
      <p:bldP spid="63" grpId="0"/>
      <p:bldP spid="64" grpId="0"/>
      <p:bldP spid="65" grpId="0"/>
      <p:bldP spid="66" grpId="0"/>
      <p:bldP spid="67" grpId="0" animBg="1"/>
      <p:bldP spid="68" grpId="0"/>
      <p:bldP spid="69" grpId="0"/>
      <p:bldP spid="70" grpId="0"/>
      <p:bldP spid="71" grpId="0"/>
      <p:bldP spid="73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B686B-7676-C8EE-F546-46E8E1FBA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!!MiddleBack">
            <a:extLst>
              <a:ext uri="{FF2B5EF4-FFF2-40B4-BE49-F238E27FC236}">
                <a16:creationId xmlns:a16="http://schemas.microsoft.com/office/drawing/2014/main" id="{BB49516A-B057-1A88-F94E-B66986FD1161}"/>
              </a:ext>
            </a:extLst>
          </p:cNvPr>
          <p:cNvSpPr txBox="1"/>
          <p:nvPr/>
        </p:nvSpPr>
        <p:spPr>
          <a:xfrm rot="16200000">
            <a:off x="9662653" y="3386071"/>
            <a:ext cx="42395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True &amp; False</a:t>
            </a:r>
          </a:p>
        </p:txBody>
      </p:sp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787AF52B-6443-211E-8C17-DDA7C6ABB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26" name="!!xD">
            <a:extLst>
              <a:ext uri="{FF2B5EF4-FFF2-40B4-BE49-F238E27FC236}">
                <a16:creationId xmlns:a16="http://schemas.microsoft.com/office/drawing/2014/main" id="{8B1C43DD-BD1B-566F-DC04-3C16130C56F6}"/>
              </a:ext>
            </a:extLst>
          </p:cNvPr>
          <p:cNvSpPr/>
          <p:nvPr/>
        </p:nvSpPr>
        <p:spPr>
          <a:xfrm>
            <a:off x="11372850" y="0"/>
            <a:ext cx="819150" cy="6858000"/>
          </a:xfrm>
          <a:prstGeom prst="rect">
            <a:avLst/>
          </a:prstGeom>
          <a:gradFill>
            <a:gsLst>
              <a:gs pos="0">
                <a:srgbClr val="AD85FF">
                  <a:alpha val="0"/>
                </a:srgbClr>
              </a:gs>
              <a:gs pos="100000">
                <a:srgbClr val="6316FF"/>
              </a:gs>
            </a:gsLst>
            <a:lin ang="0" scaled="0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!!MiddleBack">
            <a:extLst>
              <a:ext uri="{FF2B5EF4-FFF2-40B4-BE49-F238E27FC236}">
                <a16:creationId xmlns:a16="http://schemas.microsoft.com/office/drawing/2014/main" id="{47B764A0-DC57-1490-CF6B-81191F4321A9}"/>
              </a:ext>
            </a:extLst>
          </p:cNvPr>
          <p:cNvSpPr txBox="1"/>
          <p:nvPr/>
        </p:nvSpPr>
        <p:spPr>
          <a:xfrm>
            <a:off x="-1084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20" name="!!topic1words">
            <a:extLst>
              <a:ext uri="{FF2B5EF4-FFF2-40B4-BE49-F238E27FC236}">
                <a16:creationId xmlns:a16="http://schemas.microsoft.com/office/drawing/2014/main" id="{04032118-A068-6069-AB33-9E86875B8FCD}"/>
              </a:ext>
            </a:extLst>
          </p:cNvPr>
          <p:cNvSpPr/>
          <p:nvPr/>
        </p:nvSpPr>
        <p:spPr>
          <a:xfrm>
            <a:off x="-3713121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C461A8-08C4-D390-98DB-23FD315A7953}"/>
              </a:ext>
            </a:extLst>
          </p:cNvPr>
          <p:cNvSpPr txBox="1"/>
          <p:nvPr/>
        </p:nvSpPr>
        <p:spPr>
          <a:xfrm>
            <a:off x="-3553241" y="1972591"/>
            <a:ext cx="27758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No. of air sac is …..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CF58F2-6B21-4D99-7CC0-E6F82A48BCD3}"/>
              </a:ext>
            </a:extLst>
          </p:cNvPr>
          <p:cNvSpPr txBox="1"/>
          <p:nvPr/>
        </p:nvSpPr>
        <p:spPr>
          <a:xfrm>
            <a:off x="-3553241" y="3131535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D0C9E-4E7D-A783-187A-68F29F05F915}"/>
              </a:ext>
            </a:extLst>
          </p:cNvPr>
          <p:cNvSpPr txBox="1"/>
          <p:nvPr/>
        </p:nvSpPr>
        <p:spPr>
          <a:xfrm>
            <a:off x="-3553243" y="3572507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A4F624-72D5-BA9A-E3C8-0142EDE9B4FA}"/>
              </a:ext>
            </a:extLst>
          </p:cNvPr>
          <p:cNvSpPr txBox="1"/>
          <p:nvPr/>
        </p:nvSpPr>
        <p:spPr>
          <a:xfrm>
            <a:off x="-3553242" y="4013480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15</a:t>
            </a:r>
          </a:p>
        </p:txBody>
      </p:sp>
      <p:sp>
        <p:nvSpPr>
          <p:cNvPr id="27" name="!!topic1words">
            <a:extLst>
              <a:ext uri="{FF2B5EF4-FFF2-40B4-BE49-F238E27FC236}">
                <a16:creationId xmlns:a16="http://schemas.microsoft.com/office/drawing/2014/main" id="{3A802321-9F23-44B0-6226-D908FF4CDB67}"/>
              </a:ext>
            </a:extLst>
          </p:cNvPr>
          <p:cNvSpPr/>
          <p:nvPr/>
        </p:nvSpPr>
        <p:spPr>
          <a:xfrm>
            <a:off x="-762932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534108-913A-C33B-03F8-2076621275DC}"/>
              </a:ext>
            </a:extLst>
          </p:cNvPr>
          <p:cNvSpPr txBox="1"/>
          <p:nvPr/>
        </p:nvSpPr>
        <p:spPr>
          <a:xfrm>
            <a:off x="-746944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Site for tracheal swab …..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4F4FE2-BBFC-0770-5F57-FC4A0C031413}"/>
              </a:ext>
            </a:extLst>
          </p:cNvPr>
          <p:cNvSpPr txBox="1"/>
          <p:nvPr/>
        </p:nvSpPr>
        <p:spPr>
          <a:xfrm>
            <a:off x="-746944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Trachea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8237C3-0374-A5E0-B62A-03A5ECE94BE1}"/>
              </a:ext>
            </a:extLst>
          </p:cNvPr>
          <p:cNvSpPr txBox="1"/>
          <p:nvPr/>
        </p:nvSpPr>
        <p:spPr>
          <a:xfrm>
            <a:off x="-7469446" y="3856339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Lung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4F0281-2E91-FDC6-5704-353D92B655B5}"/>
              </a:ext>
            </a:extLst>
          </p:cNvPr>
          <p:cNvSpPr txBox="1"/>
          <p:nvPr/>
        </p:nvSpPr>
        <p:spPr>
          <a:xfrm>
            <a:off x="-7469444" y="431414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Larynx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21C7E2-938A-3B89-637B-7931303B8581}"/>
              </a:ext>
            </a:extLst>
          </p:cNvPr>
          <p:cNvSpPr txBox="1"/>
          <p:nvPr/>
        </p:nvSpPr>
        <p:spPr>
          <a:xfrm>
            <a:off x="-7469444" y="477195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Glottis</a:t>
            </a:r>
          </a:p>
        </p:txBody>
      </p:sp>
      <p:sp>
        <p:nvSpPr>
          <p:cNvPr id="38" name="!!topic315words">
            <a:extLst>
              <a:ext uri="{FF2B5EF4-FFF2-40B4-BE49-F238E27FC236}">
                <a16:creationId xmlns:a16="http://schemas.microsoft.com/office/drawing/2014/main" id="{425F849E-D44D-89D8-2034-D9AEEC0CA1DF}"/>
              </a:ext>
            </a:extLst>
          </p:cNvPr>
          <p:cNvSpPr/>
          <p:nvPr/>
        </p:nvSpPr>
        <p:spPr>
          <a:xfrm>
            <a:off x="-117054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AC9041-8A5E-232B-3C55-4A7B18DDF19B}"/>
              </a:ext>
            </a:extLst>
          </p:cNvPr>
          <p:cNvSpPr txBox="1"/>
          <p:nvPr/>
        </p:nvSpPr>
        <p:spPr>
          <a:xfrm>
            <a:off x="-1154552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birds, the liver …..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7F95BF-9EEA-D448-EF67-113642B243CE}"/>
              </a:ext>
            </a:extLst>
          </p:cNvPr>
          <p:cNvSpPr txBox="1"/>
          <p:nvPr/>
        </p:nvSpPr>
        <p:spPr>
          <a:xfrm>
            <a:off x="-11643585" y="3398529"/>
            <a:ext cx="2971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left lobe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735853-7791-40A8-A9D8-BC2267910A7B}"/>
              </a:ext>
            </a:extLst>
          </p:cNvPr>
          <p:cNvSpPr txBox="1"/>
          <p:nvPr/>
        </p:nvSpPr>
        <p:spPr>
          <a:xfrm>
            <a:off x="-11643585" y="3864365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Has a larger right lobe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F443DC-E055-EB2B-5ACA-7455D7BECDEB}"/>
              </a:ext>
            </a:extLst>
          </p:cNvPr>
          <p:cNvSpPr txBox="1"/>
          <p:nvPr/>
        </p:nvSpPr>
        <p:spPr>
          <a:xfrm>
            <a:off x="-11643585" y="433020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white in color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246EB2-8403-6500-AE76-76C92EAA5A77}"/>
              </a:ext>
            </a:extLst>
          </p:cNvPr>
          <p:cNvSpPr txBox="1"/>
          <p:nvPr/>
        </p:nvSpPr>
        <p:spPr>
          <a:xfrm>
            <a:off x="-11643585" y="4796036"/>
            <a:ext cx="2775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Is not involved in digestion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91409FB0-30D4-2C1E-2C04-BAE2AE1BE5DC}"/>
              </a:ext>
            </a:extLst>
          </p:cNvPr>
          <p:cNvSpPr/>
          <p:nvPr/>
        </p:nvSpPr>
        <p:spPr>
          <a:xfrm>
            <a:off x="-11173596" y="1577557"/>
            <a:ext cx="2032000" cy="327948"/>
          </a:xfrm>
          <a:prstGeom prst="roundRect">
            <a:avLst/>
          </a:prstGeom>
          <a:gradFill>
            <a:gsLst>
              <a:gs pos="0">
                <a:srgbClr val="3D00B8">
                  <a:alpha val="95000"/>
                </a:srgbClr>
              </a:gs>
              <a:gs pos="100000">
                <a:srgbClr val="6316FF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League Spartan" pitchFamily="2" charset="0"/>
              </a:rPr>
              <a:t>Liver </a:t>
            </a:r>
          </a:p>
        </p:txBody>
      </p:sp>
      <p:sp>
        <p:nvSpPr>
          <p:cNvPr id="8" name="!!topic1words">
            <a:extLst>
              <a:ext uri="{FF2B5EF4-FFF2-40B4-BE49-F238E27FC236}">
                <a16:creationId xmlns:a16="http://schemas.microsoft.com/office/drawing/2014/main" id="{F87F6D49-F279-E3C0-76D2-984B11D0F55D}"/>
              </a:ext>
            </a:extLst>
          </p:cNvPr>
          <p:cNvSpPr/>
          <p:nvPr/>
        </p:nvSpPr>
        <p:spPr>
          <a:xfrm>
            <a:off x="467378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66E8A2-F6B3-54B3-D487-EE2F4A546EF5}"/>
              </a:ext>
            </a:extLst>
          </p:cNvPr>
          <p:cNvSpPr txBox="1"/>
          <p:nvPr/>
        </p:nvSpPr>
        <p:spPr>
          <a:xfrm>
            <a:off x="4833664" y="1972591"/>
            <a:ext cx="27758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Marek's ds affecting Brachial plexus causing …… wing paralysis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47AF26-EC46-AB96-39D4-29B3C0C667B9}"/>
              </a:ext>
            </a:extLst>
          </p:cNvPr>
          <p:cNvSpPr txBox="1"/>
          <p:nvPr/>
        </p:nvSpPr>
        <p:spPr>
          <a:xfrm>
            <a:off x="4833664" y="404903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Unilateral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CE45B-B10A-0410-C490-EBD6ACEE7ACF}"/>
              </a:ext>
            </a:extLst>
          </p:cNvPr>
          <p:cNvSpPr txBox="1"/>
          <p:nvPr/>
        </p:nvSpPr>
        <p:spPr>
          <a:xfrm>
            <a:off x="4833664" y="450684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Bilateral</a:t>
            </a:r>
          </a:p>
        </p:txBody>
      </p:sp>
      <p:sp>
        <p:nvSpPr>
          <p:cNvPr id="14" name="!!topic20100words">
            <a:extLst>
              <a:ext uri="{FF2B5EF4-FFF2-40B4-BE49-F238E27FC236}">
                <a16:creationId xmlns:a16="http://schemas.microsoft.com/office/drawing/2014/main" id="{B3FFD4AC-96A9-2682-FC17-52FABAE441B3}"/>
              </a:ext>
            </a:extLst>
          </p:cNvPr>
          <p:cNvSpPr/>
          <p:nvPr/>
        </p:nvSpPr>
        <p:spPr>
          <a:xfrm>
            <a:off x="59770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C75822-4ABC-9DBA-B48D-7BE2C4FBB521}"/>
              </a:ext>
            </a:extLst>
          </p:cNvPr>
          <p:cNvSpPr txBox="1"/>
          <p:nvPr/>
        </p:nvSpPr>
        <p:spPr>
          <a:xfrm>
            <a:off x="75758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case of 7 air sac ….. is absent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F42400-66EC-2211-56FD-FDAB550A1431}"/>
              </a:ext>
            </a:extLst>
          </p:cNvPr>
          <p:cNvSpPr txBox="1"/>
          <p:nvPr/>
        </p:nvSpPr>
        <p:spPr>
          <a:xfrm>
            <a:off x="75758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Cervical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5AEC1C-A061-E962-4C2F-9012227D82BE}"/>
              </a:ext>
            </a:extLst>
          </p:cNvPr>
          <p:cNvSpPr txBox="1"/>
          <p:nvPr/>
        </p:nvSpPr>
        <p:spPr>
          <a:xfrm>
            <a:off x="757582" y="3853887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Thoracic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80833B-7214-6855-680F-54346F71277C}"/>
              </a:ext>
            </a:extLst>
          </p:cNvPr>
          <p:cNvSpPr txBox="1"/>
          <p:nvPr/>
        </p:nvSpPr>
        <p:spPr>
          <a:xfrm>
            <a:off x="757584" y="4309245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Abdominal</a:t>
            </a:r>
          </a:p>
        </p:txBody>
      </p:sp>
      <p:sp>
        <p:nvSpPr>
          <p:cNvPr id="57" name="!!page1product">
            <a:extLst>
              <a:ext uri="{FF2B5EF4-FFF2-40B4-BE49-F238E27FC236}">
                <a16:creationId xmlns:a16="http://schemas.microsoft.com/office/drawing/2014/main" id="{0E20D00F-B152-D6A4-DA88-D0C2A2769CEF}"/>
              </a:ext>
            </a:extLst>
          </p:cNvPr>
          <p:cNvSpPr/>
          <p:nvPr/>
        </p:nvSpPr>
        <p:spPr>
          <a:xfrm>
            <a:off x="3632797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!!page2product">
            <a:extLst>
              <a:ext uri="{FF2B5EF4-FFF2-40B4-BE49-F238E27FC236}">
                <a16:creationId xmlns:a16="http://schemas.microsoft.com/office/drawing/2014/main" id="{325E3EED-FD4A-1562-F075-65B72CA6C8F3}"/>
              </a:ext>
            </a:extLst>
          </p:cNvPr>
          <p:cNvSpPr/>
          <p:nvPr/>
        </p:nvSpPr>
        <p:spPr>
          <a:xfrm>
            <a:off x="4902945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!!page3product">
            <a:extLst>
              <a:ext uri="{FF2B5EF4-FFF2-40B4-BE49-F238E27FC236}">
                <a16:creationId xmlns:a16="http://schemas.microsoft.com/office/drawing/2014/main" id="{0EF84783-84FC-3BDA-7EBD-C2AD6B76BC98}"/>
              </a:ext>
            </a:extLst>
          </p:cNvPr>
          <p:cNvSpPr/>
          <p:nvPr/>
        </p:nvSpPr>
        <p:spPr>
          <a:xfrm>
            <a:off x="6173093" y="6640718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!!page4product">
            <a:extLst>
              <a:ext uri="{FF2B5EF4-FFF2-40B4-BE49-F238E27FC236}">
                <a16:creationId xmlns:a16="http://schemas.microsoft.com/office/drawing/2014/main" id="{DFE78731-54DE-1861-C629-90142E2ED0B3}"/>
              </a:ext>
            </a:extLst>
          </p:cNvPr>
          <p:cNvSpPr/>
          <p:nvPr/>
        </p:nvSpPr>
        <p:spPr>
          <a:xfrm>
            <a:off x="7443242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77" name="Rectangle: Rounded Corners 76">
            <a:hlinkClick r:id="rId4" action="ppaction://hlinksldjump"/>
            <a:extLst>
              <a:ext uri="{FF2B5EF4-FFF2-40B4-BE49-F238E27FC236}">
                <a16:creationId xmlns:a16="http://schemas.microsoft.com/office/drawing/2014/main" id="{E1407D71-8AA2-0C30-60FE-3FFF1AC0E838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78" name="Rectangle: Rounded Corners 77">
            <a:hlinkClick r:id="rId5" action="ppaction://hlinksldjump"/>
            <a:extLst>
              <a:ext uri="{FF2B5EF4-FFF2-40B4-BE49-F238E27FC236}">
                <a16:creationId xmlns:a16="http://schemas.microsoft.com/office/drawing/2014/main" id="{1A666367-F07B-C270-07C0-420D5CB8282D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79" name="Rectangle: Rounded Corners 78">
            <a:hlinkClick r:id="rId6" action="ppaction://hlinksldjump"/>
            <a:extLst>
              <a:ext uri="{FF2B5EF4-FFF2-40B4-BE49-F238E27FC236}">
                <a16:creationId xmlns:a16="http://schemas.microsoft.com/office/drawing/2014/main" id="{6C46303D-D388-B7FF-FCE6-E84DF31EDA5D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90" name="Rectangle: Rounded Corners 89">
            <a:hlinkClick r:id="rId7" action="ppaction://hlinksldjump"/>
            <a:extLst>
              <a:ext uri="{FF2B5EF4-FFF2-40B4-BE49-F238E27FC236}">
                <a16:creationId xmlns:a16="http://schemas.microsoft.com/office/drawing/2014/main" id="{8B92E2D2-8E72-C489-B9AD-B88B2D40729C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</p:spTree>
    <p:extLst>
      <p:ext uri="{BB962C8B-B14F-4D97-AF65-F5344CB8AC3E}">
        <p14:creationId xmlns:p14="http://schemas.microsoft.com/office/powerpoint/2010/main" val="2176442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5" presetClass="emph" presetSubtype="0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2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1DFFB9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25"/>
                            </p:stCondLst>
                            <p:childTnLst>
                              <p:par>
                                <p:cTn id="7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225"/>
                            </p:stCondLst>
                            <p:childTnLst>
                              <p:par>
                                <p:cTn id="7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26" grpId="0" animBg="1"/>
      <p:bldP spid="20" grpId="0" animBg="1"/>
      <p:bldP spid="21" grpId="0"/>
      <p:bldP spid="22" grpId="0" build="allAtOnce"/>
      <p:bldP spid="23" grpId="0" build="allAtOnce"/>
      <p:bldP spid="24" grpId="0" build="allAtOnce"/>
      <p:bldP spid="27" grpId="0" animBg="1"/>
      <p:bldP spid="28" grpId="0"/>
      <p:bldP spid="29" grpId="0"/>
      <p:bldP spid="33" grpId="0" build="allAtOnce"/>
      <p:bldP spid="36" grpId="0" build="allAtOnce"/>
      <p:bldP spid="37" grpId="0" build="allAtOnce"/>
      <p:bldP spid="38" grpId="0" animBg="1"/>
      <p:bldP spid="39" grpId="0"/>
      <p:bldP spid="40" grpId="0"/>
      <p:bldP spid="41" grpId="0" build="allAtOnce"/>
      <p:bldP spid="42" grpId="0"/>
      <p:bldP spid="43" grpId="0"/>
      <p:bldP spid="75" grpId="0" animBg="1"/>
      <p:bldP spid="8" grpId="0" animBg="1"/>
      <p:bldP spid="9" grpId="0"/>
      <p:bldP spid="12" grpId="0" build="allAtOnce"/>
      <p:bldP spid="12" grpId="1" build="allAtOnce"/>
      <p:bldP spid="12" grpId="2" build="allAtOnce"/>
      <p:bldP spid="13" grpId="0"/>
      <p:bldP spid="16" grpId="0" build="allAtOnce"/>
      <p:bldP spid="16" grpId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1DC60-FEBA-87C2-A05F-7CE79D06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2">
            <a:extLst>
              <a:ext uri="{FF2B5EF4-FFF2-40B4-BE49-F238E27FC236}">
                <a16:creationId xmlns:a16="http://schemas.microsoft.com/office/drawing/2014/main" id="{2C9CE5B7-B3E9-D3AC-5A66-F0D9591FAB82}"/>
              </a:ext>
            </a:extLst>
          </p:cNvPr>
          <p:cNvSpPr/>
          <p:nvPr/>
        </p:nvSpPr>
        <p:spPr>
          <a:xfrm>
            <a:off x="15043602" y="1185831"/>
            <a:ext cx="7267717" cy="4305664"/>
          </a:xfrm>
          <a:custGeom>
            <a:avLst/>
            <a:gdLst/>
            <a:ahLst/>
            <a:cxnLst/>
            <a:rect l="l" t="t" r="r" b="b"/>
            <a:pathLst>
              <a:path w="6048000" h="3583059">
                <a:moveTo>
                  <a:pt x="0" y="0"/>
                </a:moveTo>
                <a:lnTo>
                  <a:pt x="6048000" y="0"/>
                </a:lnTo>
                <a:lnTo>
                  <a:pt x="6048000" y="3583059"/>
                </a:lnTo>
                <a:lnTo>
                  <a:pt x="0" y="3583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A3D796ED-E2DA-839D-D873-495F94064187}"/>
              </a:ext>
            </a:extLst>
          </p:cNvPr>
          <p:cNvSpPr/>
          <p:nvPr/>
        </p:nvSpPr>
        <p:spPr>
          <a:xfrm>
            <a:off x="21561620" y="517305"/>
            <a:ext cx="4538066" cy="5823390"/>
          </a:xfrm>
          <a:custGeom>
            <a:avLst/>
            <a:gdLst/>
            <a:ahLst/>
            <a:cxnLst/>
            <a:rect l="l" t="t" r="r" b="b"/>
            <a:pathLst>
              <a:path w="3615407" h="4639405">
                <a:moveTo>
                  <a:pt x="0" y="0"/>
                </a:moveTo>
                <a:lnTo>
                  <a:pt x="3615408" y="0"/>
                </a:lnTo>
                <a:lnTo>
                  <a:pt x="3615408" y="4639404"/>
                </a:lnTo>
                <a:lnTo>
                  <a:pt x="0" y="4639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510" r="-686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9536FA-8CAF-13D8-DA07-A73B81CFF34D}"/>
              </a:ext>
            </a:extLst>
          </p:cNvPr>
          <p:cNvSpPr/>
          <p:nvPr/>
        </p:nvSpPr>
        <p:spPr>
          <a:xfrm rot="3015908">
            <a:off x="30514799" y="5463913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EBE7E1-1A87-56F1-0C07-990EFD0165B6}"/>
              </a:ext>
            </a:extLst>
          </p:cNvPr>
          <p:cNvSpPr txBox="1"/>
          <p:nvPr/>
        </p:nvSpPr>
        <p:spPr>
          <a:xfrm>
            <a:off x="29916256" y="6101157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9F7662C-F28D-FA7F-D6D1-A545DA01CEEC}"/>
              </a:ext>
            </a:extLst>
          </p:cNvPr>
          <p:cNvSpPr/>
          <p:nvPr/>
        </p:nvSpPr>
        <p:spPr>
          <a:xfrm>
            <a:off x="25185209" y="3528439"/>
            <a:ext cx="2120590" cy="2120590"/>
          </a:xfrm>
          <a:prstGeom prst="ellipse">
            <a:avLst/>
          </a:prstGeom>
          <a:solidFill>
            <a:schemeClr val="bg1">
              <a:alpha val="10000"/>
            </a:schemeClr>
          </a:solidFill>
          <a:ln w="50800">
            <a:solidFill>
              <a:schemeClr val="bg1">
                <a:alpha val="35000"/>
              </a:schemeClr>
            </a:solidFill>
          </a:ln>
          <a:effectLst>
            <a:innerShdw blurRad="1270000" dir="13500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43C431-66FC-D378-AA32-3F5049F2E8EF}"/>
              </a:ext>
            </a:extLst>
          </p:cNvPr>
          <p:cNvSpPr/>
          <p:nvPr/>
        </p:nvSpPr>
        <p:spPr>
          <a:xfrm rot="3015908">
            <a:off x="30843848" y="812290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96B0DF-8B11-1C32-8A83-A692D5101825}"/>
              </a:ext>
            </a:extLst>
          </p:cNvPr>
          <p:cNvSpPr txBox="1"/>
          <p:nvPr/>
        </p:nvSpPr>
        <p:spPr>
          <a:xfrm>
            <a:off x="31232912" y="7369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EA241A-6241-5807-C7FC-E11D0E643102}"/>
              </a:ext>
            </a:extLst>
          </p:cNvPr>
          <p:cNvSpPr/>
          <p:nvPr/>
        </p:nvSpPr>
        <p:spPr>
          <a:xfrm rot="3015908">
            <a:off x="30699418" y="347292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AA4621-F5C5-4B57-3B7E-30DB77A75F37}"/>
              </a:ext>
            </a:extLst>
          </p:cNvPr>
          <p:cNvSpPr txBox="1"/>
          <p:nvPr/>
        </p:nvSpPr>
        <p:spPr>
          <a:xfrm>
            <a:off x="31088482" y="271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FEE291-EFD4-4126-3636-64C16395C5B3}"/>
              </a:ext>
            </a:extLst>
          </p:cNvPr>
          <p:cNvSpPr/>
          <p:nvPr/>
        </p:nvSpPr>
        <p:spPr>
          <a:xfrm rot="8085142">
            <a:off x="29470114" y="3469579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5F9D43-A744-931F-A054-AEA1B9D7F8D3}"/>
              </a:ext>
            </a:extLst>
          </p:cNvPr>
          <p:cNvSpPr txBox="1"/>
          <p:nvPr/>
        </p:nvSpPr>
        <p:spPr>
          <a:xfrm>
            <a:off x="28992302" y="325389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2</a:t>
            </a:r>
          </a:p>
        </p:txBody>
      </p:sp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B06F3060-BB24-639E-A00F-D924D839D7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26" name="!!xD">
            <a:extLst>
              <a:ext uri="{FF2B5EF4-FFF2-40B4-BE49-F238E27FC236}">
                <a16:creationId xmlns:a16="http://schemas.microsoft.com/office/drawing/2014/main" id="{0E82BB51-EDED-A6B5-F53A-7E7DC3FADC85}"/>
              </a:ext>
            </a:extLst>
          </p:cNvPr>
          <p:cNvSpPr/>
          <p:nvPr/>
        </p:nvSpPr>
        <p:spPr>
          <a:xfrm>
            <a:off x="13760675" y="0"/>
            <a:ext cx="819150" cy="6858000"/>
          </a:xfrm>
          <a:prstGeom prst="rect">
            <a:avLst/>
          </a:prstGeom>
          <a:gradFill>
            <a:gsLst>
              <a:gs pos="0">
                <a:srgbClr val="AD85FF">
                  <a:alpha val="0"/>
                </a:srgbClr>
              </a:gs>
              <a:gs pos="100000">
                <a:srgbClr val="6316FF"/>
              </a:gs>
            </a:gsLst>
            <a:lin ang="0" scaled="0"/>
          </a:gradFill>
          <a:ln w="508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!!MiddleBack">
            <a:extLst>
              <a:ext uri="{FF2B5EF4-FFF2-40B4-BE49-F238E27FC236}">
                <a16:creationId xmlns:a16="http://schemas.microsoft.com/office/drawing/2014/main" id="{6A2DB0DE-010C-B2A1-EFD9-4AE9177553D2}"/>
              </a:ext>
            </a:extLst>
          </p:cNvPr>
          <p:cNvSpPr txBox="1"/>
          <p:nvPr/>
        </p:nvSpPr>
        <p:spPr>
          <a:xfrm>
            <a:off x="-1084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True &amp; False</a:t>
            </a:r>
          </a:p>
        </p:txBody>
      </p:sp>
      <p:sp>
        <p:nvSpPr>
          <p:cNvPr id="8" name="!!topic1words">
            <a:extLst>
              <a:ext uri="{FF2B5EF4-FFF2-40B4-BE49-F238E27FC236}">
                <a16:creationId xmlns:a16="http://schemas.microsoft.com/office/drawing/2014/main" id="{8FAB05EE-C4B1-750E-FBD2-65BC4AD111B7}"/>
              </a:ext>
            </a:extLst>
          </p:cNvPr>
          <p:cNvSpPr/>
          <p:nvPr/>
        </p:nvSpPr>
        <p:spPr>
          <a:xfrm>
            <a:off x="-677096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C61D42-B233-5187-A7BF-8ADE8D771211}"/>
              </a:ext>
            </a:extLst>
          </p:cNvPr>
          <p:cNvSpPr txBox="1"/>
          <p:nvPr/>
        </p:nvSpPr>
        <p:spPr>
          <a:xfrm>
            <a:off x="-6611084" y="1972591"/>
            <a:ext cx="27758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Marek's ds affecting Brachial plexus causing …… wing paralysis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AA2C14-2581-6A5A-C9D4-5AFE6B0384EF}"/>
              </a:ext>
            </a:extLst>
          </p:cNvPr>
          <p:cNvSpPr txBox="1"/>
          <p:nvPr/>
        </p:nvSpPr>
        <p:spPr>
          <a:xfrm>
            <a:off x="-6611084" y="404903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 dirty="0"/>
              <a:t>Unilateral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1DC371-01E7-45EE-181B-32983A423D14}"/>
              </a:ext>
            </a:extLst>
          </p:cNvPr>
          <p:cNvSpPr txBox="1"/>
          <p:nvPr/>
        </p:nvSpPr>
        <p:spPr>
          <a:xfrm>
            <a:off x="-6611084" y="4506841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Bilateral</a:t>
            </a:r>
          </a:p>
        </p:txBody>
      </p:sp>
      <p:sp>
        <p:nvSpPr>
          <p:cNvPr id="14" name="!!topic20100words">
            <a:extLst>
              <a:ext uri="{FF2B5EF4-FFF2-40B4-BE49-F238E27FC236}">
                <a16:creationId xmlns:a16="http://schemas.microsoft.com/office/drawing/2014/main" id="{9C783615-01CC-6B02-7265-7BFB3808FAA7}"/>
              </a:ext>
            </a:extLst>
          </p:cNvPr>
          <p:cNvSpPr/>
          <p:nvPr/>
        </p:nvSpPr>
        <p:spPr>
          <a:xfrm>
            <a:off x="-10847044" y="1724023"/>
            <a:ext cx="3095618" cy="4648384"/>
          </a:xfrm>
          <a:prstGeom prst="roundRect">
            <a:avLst>
              <a:gd name="adj" fmla="val 8975"/>
            </a:avLst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62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ED7745-1ABB-329B-2EA9-71A25EF2EC76}"/>
              </a:ext>
            </a:extLst>
          </p:cNvPr>
          <p:cNvSpPr txBox="1"/>
          <p:nvPr/>
        </p:nvSpPr>
        <p:spPr>
          <a:xfrm>
            <a:off x="-10687164" y="1972591"/>
            <a:ext cx="27758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 case of 7 air sac ….. is absent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644F8F-989E-6099-3CEE-F4D339064809}"/>
              </a:ext>
            </a:extLst>
          </p:cNvPr>
          <p:cNvSpPr txBox="1"/>
          <p:nvPr/>
        </p:nvSpPr>
        <p:spPr>
          <a:xfrm>
            <a:off x="-10687164" y="3398529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Cervical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DF91D-1459-3B14-3EFB-EC58A041F4D3}"/>
              </a:ext>
            </a:extLst>
          </p:cNvPr>
          <p:cNvSpPr txBox="1"/>
          <p:nvPr/>
        </p:nvSpPr>
        <p:spPr>
          <a:xfrm>
            <a:off x="-10687166" y="3853887"/>
            <a:ext cx="309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Thoracic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5960F8-AE54-448E-B96E-86D261A3496D}"/>
              </a:ext>
            </a:extLst>
          </p:cNvPr>
          <p:cNvSpPr txBox="1"/>
          <p:nvPr/>
        </p:nvSpPr>
        <p:spPr>
          <a:xfrm>
            <a:off x="-10687164" y="4309245"/>
            <a:ext cx="2775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Abdominal</a:t>
            </a:r>
          </a:p>
        </p:txBody>
      </p:sp>
      <p:sp>
        <p:nvSpPr>
          <p:cNvPr id="2" name="!!page1product">
            <a:extLst>
              <a:ext uri="{FF2B5EF4-FFF2-40B4-BE49-F238E27FC236}">
                <a16:creationId xmlns:a16="http://schemas.microsoft.com/office/drawing/2014/main" id="{11BFDF48-FED2-C419-B385-268342F6E577}"/>
              </a:ext>
            </a:extLst>
          </p:cNvPr>
          <p:cNvSpPr/>
          <p:nvPr/>
        </p:nvSpPr>
        <p:spPr>
          <a:xfrm>
            <a:off x="5538020" y="66407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!!page2product">
            <a:extLst>
              <a:ext uri="{FF2B5EF4-FFF2-40B4-BE49-F238E27FC236}">
                <a16:creationId xmlns:a16="http://schemas.microsoft.com/office/drawing/2014/main" id="{B2E18DA8-71E3-F5DA-9D09-61B489B03563}"/>
              </a:ext>
            </a:extLst>
          </p:cNvPr>
          <p:cNvSpPr/>
          <p:nvPr/>
        </p:nvSpPr>
        <p:spPr>
          <a:xfrm>
            <a:off x="6783625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page3product">
            <a:extLst>
              <a:ext uri="{FF2B5EF4-FFF2-40B4-BE49-F238E27FC236}">
                <a16:creationId xmlns:a16="http://schemas.microsoft.com/office/drawing/2014/main" id="{52837C84-100D-6BC7-6C67-A7458E8AD6D9}"/>
              </a:ext>
            </a:extLst>
          </p:cNvPr>
          <p:cNvSpPr/>
          <p:nvPr/>
        </p:nvSpPr>
        <p:spPr>
          <a:xfrm>
            <a:off x="8053773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page4product">
            <a:extLst>
              <a:ext uri="{FF2B5EF4-FFF2-40B4-BE49-F238E27FC236}">
                <a16:creationId xmlns:a16="http://schemas.microsoft.com/office/drawing/2014/main" id="{5294959A-9911-EE45-3AD7-D4AECDB49E3B}"/>
              </a:ext>
            </a:extLst>
          </p:cNvPr>
          <p:cNvSpPr/>
          <p:nvPr/>
        </p:nvSpPr>
        <p:spPr>
          <a:xfrm>
            <a:off x="9323922" y="70285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!!MiddleBack">
            <a:extLst>
              <a:ext uri="{FF2B5EF4-FFF2-40B4-BE49-F238E27FC236}">
                <a16:creationId xmlns:a16="http://schemas.microsoft.com/office/drawing/2014/main" id="{20E32D2A-9313-B43E-5315-39A99EE3C30F}"/>
              </a:ext>
            </a:extLst>
          </p:cNvPr>
          <p:cNvSpPr txBox="1"/>
          <p:nvPr/>
        </p:nvSpPr>
        <p:spPr>
          <a:xfrm>
            <a:off x="-13481708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Choose the Correct Answer</a:t>
            </a:r>
          </a:p>
        </p:txBody>
      </p:sp>
      <p:sp>
        <p:nvSpPr>
          <p:cNvPr id="11" name="!!topic1words!">
            <a:extLst>
              <a:ext uri="{FF2B5EF4-FFF2-40B4-BE49-F238E27FC236}">
                <a16:creationId xmlns:a16="http://schemas.microsoft.com/office/drawing/2014/main" id="{72A3ED51-7FD9-2236-ED11-E62A46ED4AA1}"/>
              </a:ext>
            </a:extLst>
          </p:cNvPr>
          <p:cNvSpPr/>
          <p:nvPr/>
        </p:nvSpPr>
        <p:spPr>
          <a:xfrm>
            <a:off x="2248318" y="1587870"/>
            <a:ext cx="7619583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CACE0-E853-C562-9235-C045FCB04FD6}"/>
              </a:ext>
            </a:extLst>
          </p:cNvPr>
          <p:cNvSpPr txBox="1"/>
          <p:nvPr/>
        </p:nvSpPr>
        <p:spPr>
          <a:xfrm>
            <a:off x="2624665" y="1741758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Birds have teeth used for crushing food.</a:t>
            </a:r>
          </a:p>
        </p:txBody>
      </p:sp>
      <p:sp>
        <p:nvSpPr>
          <p:cNvPr id="45" name="!!topic1words!">
            <a:extLst>
              <a:ext uri="{FF2B5EF4-FFF2-40B4-BE49-F238E27FC236}">
                <a16:creationId xmlns:a16="http://schemas.microsoft.com/office/drawing/2014/main" id="{3965ECD0-CE39-1E94-421A-08E26C78F015}"/>
              </a:ext>
            </a:extLst>
          </p:cNvPr>
          <p:cNvSpPr/>
          <p:nvPr/>
        </p:nvSpPr>
        <p:spPr>
          <a:xfrm>
            <a:off x="2248318" y="2523406"/>
            <a:ext cx="7619583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83DF11-1F78-8D45-63DF-9711F1C38BA0}"/>
              </a:ext>
            </a:extLst>
          </p:cNvPr>
          <p:cNvSpPr txBox="1"/>
          <p:nvPr/>
        </p:nvSpPr>
        <p:spPr>
          <a:xfrm>
            <a:off x="2624665" y="2677294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Gizzard helps in mechanical digestion.</a:t>
            </a:r>
          </a:p>
        </p:txBody>
      </p:sp>
      <p:sp>
        <p:nvSpPr>
          <p:cNvPr id="48" name="!!topic1words!">
            <a:extLst>
              <a:ext uri="{FF2B5EF4-FFF2-40B4-BE49-F238E27FC236}">
                <a16:creationId xmlns:a16="http://schemas.microsoft.com/office/drawing/2014/main" id="{F718D740-8873-E572-0EDB-F7DD787C39A9}"/>
              </a:ext>
            </a:extLst>
          </p:cNvPr>
          <p:cNvSpPr/>
          <p:nvPr/>
        </p:nvSpPr>
        <p:spPr>
          <a:xfrm>
            <a:off x="2221610" y="3512769"/>
            <a:ext cx="7646292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9F6066-FC21-52F2-7426-700252113B6F}"/>
              </a:ext>
            </a:extLst>
          </p:cNvPr>
          <p:cNvSpPr txBox="1"/>
          <p:nvPr/>
        </p:nvSpPr>
        <p:spPr>
          <a:xfrm>
            <a:off x="2597956" y="3666657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There are two functional ovaries in hens.</a:t>
            </a:r>
          </a:p>
        </p:txBody>
      </p:sp>
      <p:sp>
        <p:nvSpPr>
          <p:cNvPr id="51" name="!!topic1words!">
            <a:extLst>
              <a:ext uri="{FF2B5EF4-FFF2-40B4-BE49-F238E27FC236}">
                <a16:creationId xmlns:a16="http://schemas.microsoft.com/office/drawing/2014/main" id="{7D38C9BA-4A19-BD1B-ECDA-E74376F7BC58}"/>
              </a:ext>
            </a:extLst>
          </p:cNvPr>
          <p:cNvSpPr/>
          <p:nvPr/>
        </p:nvSpPr>
        <p:spPr>
          <a:xfrm>
            <a:off x="2194901" y="4502132"/>
            <a:ext cx="7673000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F4498E-25F0-4F6F-7F14-BD18C1CA53D2}"/>
              </a:ext>
            </a:extLst>
          </p:cNvPr>
          <p:cNvSpPr txBox="1"/>
          <p:nvPr/>
        </p:nvSpPr>
        <p:spPr>
          <a:xfrm>
            <a:off x="2571247" y="4656020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Air sacs help in temperature regulation.</a:t>
            </a:r>
          </a:p>
        </p:txBody>
      </p:sp>
      <p:sp>
        <p:nvSpPr>
          <p:cNvPr id="54" name="!!topic1words!">
            <a:extLst>
              <a:ext uri="{FF2B5EF4-FFF2-40B4-BE49-F238E27FC236}">
                <a16:creationId xmlns:a16="http://schemas.microsoft.com/office/drawing/2014/main" id="{F01706FA-0EE9-D802-E06C-702E75FD6F8D}"/>
              </a:ext>
            </a:extLst>
          </p:cNvPr>
          <p:cNvSpPr/>
          <p:nvPr/>
        </p:nvSpPr>
        <p:spPr>
          <a:xfrm>
            <a:off x="2168191" y="5491495"/>
            <a:ext cx="8728407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2FB4FE-A7F5-F093-FF9F-F240F76157B5}"/>
              </a:ext>
            </a:extLst>
          </p:cNvPr>
          <p:cNvSpPr txBox="1"/>
          <p:nvPr/>
        </p:nvSpPr>
        <p:spPr>
          <a:xfrm>
            <a:off x="2544538" y="5645382"/>
            <a:ext cx="7479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Bursa of Fabricius is part of the immune system. 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56DF8D0-3622-7F68-0CC1-A6AE24A0DF65}"/>
              </a:ext>
            </a:extLst>
          </p:cNvPr>
          <p:cNvSpPr/>
          <p:nvPr/>
        </p:nvSpPr>
        <p:spPr>
          <a:xfrm>
            <a:off x="9151666" y="1663758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366BB9DF-8854-E0FD-0204-6E3689A00D58}"/>
              </a:ext>
            </a:extLst>
          </p:cNvPr>
          <p:cNvSpPr/>
          <p:nvPr/>
        </p:nvSpPr>
        <p:spPr>
          <a:xfrm>
            <a:off x="9151666" y="2599294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531DB7A-7C40-7B05-12CA-6E086C32975D}"/>
              </a:ext>
            </a:extLst>
          </p:cNvPr>
          <p:cNvSpPr/>
          <p:nvPr/>
        </p:nvSpPr>
        <p:spPr>
          <a:xfrm>
            <a:off x="9151666" y="3588657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F70A19D-209A-0C97-62C3-6AD524D92974}"/>
              </a:ext>
            </a:extLst>
          </p:cNvPr>
          <p:cNvSpPr/>
          <p:nvPr/>
        </p:nvSpPr>
        <p:spPr>
          <a:xfrm>
            <a:off x="9151666" y="4578020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4B70760-57AE-BFAB-9929-A2409D7E4AEE}"/>
              </a:ext>
            </a:extLst>
          </p:cNvPr>
          <p:cNvSpPr/>
          <p:nvPr/>
        </p:nvSpPr>
        <p:spPr>
          <a:xfrm>
            <a:off x="10176770" y="5567383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Rectangle: Rounded Corners 76">
            <a:hlinkClick r:id="rId6" action="ppaction://hlinksldjump"/>
            <a:extLst>
              <a:ext uri="{FF2B5EF4-FFF2-40B4-BE49-F238E27FC236}">
                <a16:creationId xmlns:a16="http://schemas.microsoft.com/office/drawing/2014/main" id="{00E19A89-48E7-5D81-B392-E2033C0C14F7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78" name="Rectangle: Rounded Corners 77">
            <a:hlinkClick r:id="rId7" action="ppaction://hlinksldjump"/>
            <a:extLst>
              <a:ext uri="{FF2B5EF4-FFF2-40B4-BE49-F238E27FC236}">
                <a16:creationId xmlns:a16="http://schemas.microsoft.com/office/drawing/2014/main" id="{CAF38352-CE32-C67D-2EB7-33DB1C59FCDA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79" name="Rectangle: Rounded Corners 78">
            <a:hlinkClick r:id="rId8" action="ppaction://hlinksldjump"/>
            <a:extLst>
              <a:ext uri="{FF2B5EF4-FFF2-40B4-BE49-F238E27FC236}">
                <a16:creationId xmlns:a16="http://schemas.microsoft.com/office/drawing/2014/main" id="{E47026E6-D837-4601-D192-4AED7386885B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True &amp; False</a:t>
            </a:r>
          </a:p>
        </p:txBody>
      </p:sp>
      <p:pic>
        <p:nvPicPr>
          <p:cNvPr id="87" name="Graphic 86" descr="Checkmark with solid fill">
            <a:extLst>
              <a:ext uri="{FF2B5EF4-FFF2-40B4-BE49-F238E27FC236}">
                <a16:creationId xmlns:a16="http://schemas.microsoft.com/office/drawing/2014/main" id="{9AAD06D2-17D4-7F6A-39E2-E30A2997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8695" y="2535118"/>
            <a:ext cx="701895" cy="701895"/>
          </a:xfrm>
          <a:prstGeom prst="rect">
            <a:avLst/>
          </a:prstGeom>
        </p:spPr>
      </p:pic>
      <p:pic>
        <p:nvPicPr>
          <p:cNvPr id="88" name="Graphic 87" descr="Close with solid fill">
            <a:extLst>
              <a:ext uri="{FF2B5EF4-FFF2-40B4-BE49-F238E27FC236}">
                <a16:creationId xmlns:a16="http://schemas.microsoft.com/office/drawing/2014/main" id="{60354683-373E-FA95-8E7F-52155D75AC6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1666" y="3588656"/>
            <a:ext cx="617666" cy="617666"/>
          </a:xfrm>
          <a:prstGeom prst="rect">
            <a:avLst/>
          </a:prstGeom>
        </p:spPr>
      </p:pic>
      <p:pic>
        <p:nvPicPr>
          <p:cNvPr id="89" name="Graphic 88" descr="Checkmark with solid fill">
            <a:extLst>
              <a:ext uri="{FF2B5EF4-FFF2-40B4-BE49-F238E27FC236}">
                <a16:creationId xmlns:a16="http://schemas.microsoft.com/office/drawing/2014/main" id="{FB9A3D9E-0606-3A53-00E2-F532312983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88694" y="4493911"/>
            <a:ext cx="701895" cy="701895"/>
          </a:xfrm>
          <a:prstGeom prst="rect">
            <a:avLst/>
          </a:prstGeom>
        </p:spPr>
      </p:pic>
      <p:pic>
        <p:nvPicPr>
          <p:cNvPr id="90" name="Graphic 89" descr="Checkmark with solid fill">
            <a:extLst>
              <a:ext uri="{FF2B5EF4-FFF2-40B4-BE49-F238E27FC236}">
                <a16:creationId xmlns:a16="http://schemas.microsoft.com/office/drawing/2014/main" id="{4634CC37-CC7E-A656-1888-ED89642308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74607" y="5491495"/>
            <a:ext cx="701895" cy="701895"/>
          </a:xfrm>
          <a:prstGeom prst="rect">
            <a:avLst/>
          </a:prstGeom>
        </p:spPr>
      </p:pic>
      <p:pic>
        <p:nvPicPr>
          <p:cNvPr id="91" name="Graphic 90" descr="Close with solid fill">
            <a:extLst>
              <a:ext uri="{FF2B5EF4-FFF2-40B4-BE49-F238E27FC236}">
                <a16:creationId xmlns:a16="http://schemas.microsoft.com/office/drawing/2014/main" id="{4500E5D4-5625-37A6-8C53-D0E191CF250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1666" y="1663757"/>
            <a:ext cx="617666" cy="617666"/>
          </a:xfrm>
          <a:prstGeom prst="rect">
            <a:avLst/>
          </a:prstGeom>
        </p:spPr>
      </p:pic>
      <p:sp>
        <p:nvSpPr>
          <p:cNvPr id="93" name="Rectangle: Rounded Corners 92">
            <a:hlinkClick r:id="rId13" action="ppaction://hlinksldjump"/>
            <a:extLst>
              <a:ext uri="{FF2B5EF4-FFF2-40B4-BE49-F238E27FC236}">
                <a16:creationId xmlns:a16="http://schemas.microsoft.com/office/drawing/2014/main" id="{A4FDC8FF-AA8A-2940-162C-C7BCFEBEA3A1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Outro</a:t>
            </a:r>
          </a:p>
        </p:txBody>
      </p:sp>
    </p:spTree>
    <p:extLst>
      <p:ext uri="{BB962C8B-B14F-4D97-AF65-F5344CB8AC3E}">
        <p14:creationId xmlns:p14="http://schemas.microsoft.com/office/powerpoint/2010/main" val="4233135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3" grpId="0" animBg="1"/>
      <p:bldP spid="24" grpId="0"/>
      <p:bldP spid="25" grpId="0" animBg="1"/>
      <p:bldP spid="27" grpId="0" animBg="1"/>
      <p:bldP spid="28" grpId="0"/>
      <p:bldP spid="29" grpId="0" animBg="1"/>
      <p:bldP spid="30" grpId="0"/>
      <p:bldP spid="31" grpId="0" animBg="1"/>
      <p:bldP spid="32" grpId="0"/>
      <p:bldP spid="8" grpId="0" animBg="1"/>
      <p:bldP spid="9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6" grpId="0"/>
      <p:bldP spid="11" grpId="0" animBg="1"/>
      <p:bldP spid="10" grpId="0"/>
      <p:bldP spid="45" grpId="0" animBg="1"/>
      <p:bldP spid="46" grpId="0"/>
      <p:bldP spid="48" grpId="0" animBg="1"/>
      <p:bldP spid="49" grpId="0"/>
      <p:bldP spid="51" grpId="0" animBg="1"/>
      <p:bldP spid="52" grpId="0"/>
      <p:bldP spid="54" grpId="0" animBg="1"/>
      <p:bldP spid="55" grpId="0"/>
      <p:bldP spid="56" grpId="0" animBg="1"/>
      <p:bldP spid="65" grpId="0" animBg="1"/>
      <p:bldP spid="67" grpId="0" animBg="1"/>
      <p:bldP spid="68" grpId="0" animBg="1"/>
      <p:bldP spid="6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3B1AC-6ACB-3A7D-DD2C-54C0014C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684F70E0-92AD-4D62-B873-E8E837AEC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14" name="Freeform 2">
            <a:extLst>
              <a:ext uri="{FF2B5EF4-FFF2-40B4-BE49-F238E27FC236}">
                <a16:creationId xmlns:a16="http://schemas.microsoft.com/office/drawing/2014/main" id="{1BE6D053-6262-7E6F-DF25-4C8D3AD8BED6}"/>
              </a:ext>
            </a:extLst>
          </p:cNvPr>
          <p:cNvSpPr/>
          <p:nvPr/>
        </p:nvSpPr>
        <p:spPr>
          <a:xfrm>
            <a:off x="265607" y="1185831"/>
            <a:ext cx="7267717" cy="4305664"/>
          </a:xfrm>
          <a:custGeom>
            <a:avLst/>
            <a:gdLst/>
            <a:ahLst/>
            <a:cxnLst/>
            <a:rect l="l" t="t" r="r" b="b"/>
            <a:pathLst>
              <a:path w="6048000" h="3583059">
                <a:moveTo>
                  <a:pt x="0" y="0"/>
                </a:moveTo>
                <a:lnTo>
                  <a:pt x="6048000" y="0"/>
                </a:lnTo>
                <a:lnTo>
                  <a:pt x="6048000" y="3583059"/>
                </a:lnTo>
                <a:lnTo>
                  <a:pt x="0" y="3583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!!MiddleBack">
            <a:extLst>
              <a:ext uri="{FF2B5EF4-FFF2-40B4-BE49-F238E27FC236}">
                <a16:creationId xmlns:a16="http://schemas.microsoft.com/office/drawing/2014/main" id="{DC8EB0CE-F046-C627-4DDA-C2B5A20352F7}"/>
              </a:ext>
            </a:extLst>
          </p:cNvPr>
          <p:cNvSpPr txBox="1"/>
          <p:nvPr/>
        </p:nvSpPr>
        <p:spPr>
          <a:xfrm>
            <a:off x="-12376647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True &amp; False</a:t>
            </a:r>
          </a:p>
        </p:txBody>
      </p:sp>
      <p:sp>
        <p:nvSpPr>
          <p:cNvPr id="2" name="!!page1product">
            <a:extLst>
              <a:ext uri="{FF2B5EF4-FFF2-40B4-BE49-F238E27FC236}">
                <a16:creationId xmlns:a16="http://schemas.microsoft.com/office/drawing/2014/main" id="{09A9FC10-4DD4-D66B-2ABF-4A3A95D536D8}"/>
              </a:ext>
            </a:extLst>
          </p:cNvPr>
          <p:cNvSpPr/>
          <p:nvPr/>
        </p:nvSpPr>
        <p:spPr>
          <a:xfrm>
            <a:off x="5538020" y="6638677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!!page2product">
            <a:extLst>
              <a:ext uri="{FF2B5EF4-FFF2-40B4-BE49-F238E27FC236}">
                <a16:creationId xmlns:a16="http://schemas.microsoft.com/office/drawing/2014/main" id="{FB8706D7-988D-0216-3B82-4B550536CA23}"/>
              </a:ext>
            </a:extLst>
          </p:cNvPr>
          <p:cNvSpPr/>
          <p:nvPr/>
        </p:nvSpPr>
        <p:spPr>
          <a:xfrm>
            <a:off x="6783625" y="7026523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page3product">
            <a:extLst>
              <a:ext uri="{FF2B5EF4-FFF2-40B4-BE49-F238E27FC236}">
                <a16:creationId xmlns:a16="http://schemas.microsoft.com/office/drawing/2014/main" id="{0AA44DFF-2454-BDE0-BCFA-71441C928C1F}"/>
              </a:ext>
            </a:extLst>
          </p:cNvPr>
          <p:cNvSpPr/>
          <p:nvPr/>
        </p:nvSpPr>
        <p:spPr>
          <a:xfrm>
            <a:off x="8053773" y="7026523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page4product">
            <a:extLst>
              <a:ext uri="{FF2B5EF4-FFF2-40B4-BE49-F238E27FC236}">
                <a16:creationId xmlns:a16="http://schemas.microsoft.com/office/drawing/2014/main" id="{13198B3D-3C6B-79EA-83C1-DE46115827A4}"/>
              </a:ext>
            </a:extLst>
          </p:cNvPr>
          <p:cNvSpPr/>
          <p:nvPr/>
        </p:nvSpPr>
        <p:spPr>
          <a:xfrm>
            <a:off x="9323922" y="7026523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topic1words!">
            <a:extLst>
              <a:ext uri="{FF2B5EF4-FFF2-40B4-BE49-F238E27FC236}">
                <a16:creationId xmlns:a16="http://schemas.microsoft.com/office/drawing/2014/main" id="{84EFF81A-978C-89FB-D71B-D53F24E6F22E}"/>
              </a:ext>
            </a:extLst>
          </p:cNvPr>
          <p:cNvSpPr/>
          <p:nvPr/>
        </p:nvSpPr>
        <p:spPr>
          <a:xfrm>
            <a:off x="-10019882" y="1587870"/>
            <a:ext cx="7619583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2BEF22-6E9A-4954-CBB5-5FD1BE5F4739}"/>
              </a:ext>
            </a:extLst>
          </p:cNvPr>
          <p:cNvSpPr txBox="1"/>
          <p:nvPr/>
        </p:nvSpPr>
        <p:spPr>
          <a:xfrm>
            <a:off x="-9643535" y="1741758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Birds have teeth used for crushing food.</a:t>
            </a:r>
          </a:p>
        </p:txBody>
      </p:sp>
      <p:sp>
        <p:nvSpPr>
          <p:cNvPr id="45" name="!!topic1words!">
            <a:extLst>
              <a:ext uri="{FF2B5EF4-FFF2-40B4-BE49-F238E27FC236}">
                <a16:creationId xmlns:a16="http://schemas.microsoft.com/office/drawing/2014/main" id="{2E509FD0-A46F-13D5-F3F7-CF7CC926A89A}"/>
              </a:ext>
            </a:extLst>
          </p:cNvPr>
          <p:cNvSpPr/>
          <p:nvPr/>
        </p:nvSpPr>
        <p:spPr>
          <a:xfrm>
            <a:off x="-10019882" y="2523406"/>
            <a:ext cx="7619583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8CC936-EF29-8D4B-6DB7-47EF127FFB45}"/>
              </a:ext>
            </a:extLst>
          </p:cNvPr>
          <p:cNvSpPr txBox="1"/>
          <p:nvPr/>
        </p:nvSpPr>
        <p:spPr>
          <a:xfrm>
            <a:off x="-9643535" y="2677294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Gizzard helps in mechanical digestion.</a:t>
            </a:r>
          </a:p>
        </p:txBody>
      </p:sp>
      <p:sp>
        <p:nvSpPr>
          <p:cNvPr id="48" name="!!topic1words!">
            <a:extLst>
              <a:ext uri="{FF2B5EF4-FFF2-40B4-BE49-F238E27FC236}">
                <a16:creationId xmlns:a16="http://schemas.microsoft.com/office/drawing/2014/main" id="{FD907FB3-8F7D-A6BB-7A2B-DD6AF3F3AE47}"/>
              </a:ext>
            </a:extLst>
          </p:cNvPr>
          <p:cNvSpPr/>
          <p:nvPr/>
        </p:nvSpPr>
        <p:spPr>
          <a:xfrm>
            <a:off x="-10046590" y="3512769"/>
            <a:ext cx="7646292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FF63FE-213E-599F-76A4-B9B0AAEE7D90}"/>
              </a:ext>
            </a:extLst>
          </p:cNvPr>
          <p:cNvSpPr txBox="1"/>
          <p:nvPr/>
        </p:nvSpPr>
        <p:spPr>
          <a:xfrm>
            <a:off x="-9670244" y="3666657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There are two functional ovaries in hens.</a:t>
            </a:r>
          </a:p>
        </p:txBody>
      </p:sp>
      <p:sp>
        <p:nvSpPr>
          <p:cNvPr id="51" name="!!topic1words!">
            <a:extLst>
              <a:ext uri="{FF2B5EF4-FFF2-40B4-BE49-F238E27FC236}">
                <a16:creationId xmlns:a16="http://schemas.microsoft.com/office/drawing/2014/main" id="{BCA0C970-1EFE-5371-CD35-FC7D2FD74026}"/>
              </a:ext>
            </a:extLst>
          </p:cNvPr>
          <p:cNvSpPr/>
          <p:nvPr/>
        </p:nvSpPr>
        <p:spPr>
          <a:xfrm>
            <a:off x="-10073299" y="4502132"/>
            <a:ext cx="7673000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4D7136C-B0BD-D8E1-D400-26B6B5A74BFA}"/>
              </a:ext>
            </a:extLst>
          </p:cNvPr>
          <p:cNvSpPr txBox="1"/>
          <p:nvPr/>
        </p:nvSpPr>
        <p:spPr>
          <a:xfrm>
            <a:off x="-9696953" y="4656020"/>
            <a:ext cx="6889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Air sacs help in temperature regulation.</a:t>
            </a:r>
          </a:p>
        </p:txBody>
      </p:sp>
      <p:sp>
        <p:nvSpPr>
          <p:cNvPr id="54" name="!!topic1words!">
            <a:extLst>
              <a:ext uri="{FF2B5EF4-FFF2-40B4-BE49-F238E27FC236}">
                <a16:creationId xmlns:a16="http://schemas.microsoft.com/office/drawing/2014/main" id="{5D46C17B-ADE7-3AC1-7C13-4996890B98FB}"/>
              </a:ext>
            </a:extLst>
          </p:cNvPr>
          <p:cNvSpPr/>
          <p:nvPr/>
        </p:nvSpPr>
        <p:spPr>
          <a:xfrm>
            <a:off x="-10100009" y="5491495"/>
            <a:ext cx="8728407" cy="769441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AD85FF"/>
              </a:gs>
              <a:gs pos="19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0EE46C-394D-0ADF-05E9-3EB4890FF79F}"/>
              </a:ext>
            </a:extLst>
          </p:cNvPr>
          <p:cNvSpPr txBox="1"/>
          <p:nvPr/>
        </p:nvSpPr>
        <p:spPr>
          <a:xfrm>
            <a:off x="-9723662" y="5645382"/>
            <a:ext cx="7479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Bursa of Fabricius is part of the immune system. 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22EE4A4-927B-778F-9171-3C4EBBEDEA35}"/>
              </a:ext>
            </a:extLst>
          </p:cNvPr>
          <p:cNvSpPr/>
          <p:nvPr/>
        </p:nvSpPr>
        <p:spPr>
          <a:xfrm>
            <a:off x="-3116534" y="1663758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E465A35-7016-78EB-0870-D97BA85EEBC4}"/>
              </a:ext>
            </a:extLst>
          </p:cNvPr>
          <p:cNvSpPr/>
          <p:nvPr/>
        </p:nvSpPr>
        <p:spPr>
          <a:xfrm>
            <a:off x="-3116534" y="2599294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3D4C49B4-66B0-444E-96A3-60BA305C2830}"/>
              </a:ext>
            </a:extLst>
          </p:cNvPr>
          <p:cNvSpPr/>
          <p:nvPr/>
        </p:nvSpPr>
        <p:spPr>
          <a:xfrm>
            <a:off x="-3116534" y="3588657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99A4C09-88D0-4845-42AA-03CD6FB62A46}"/>
              </a:ext>
            </a:extLst>
          </p:cNvPr>
          <p:cNvSpPr/>
          <p:nvPr/>
        </p:nvSpPr>
        <p:spPr>
          <a:xfrm>
            <a:off x="-3116534" y="4578020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BB5FC0B-547A-1F74-1C29-08F562B38676}"/>
              </a:ext>
            </a:extLst>
          </p:cNvPr>
          <p:cNvSpPr/>
          <p:nvPr/>
        </p:nvSpPr>
        <p:spPr>
          <a:xfrm>
            <a:off x="-2091430" y="5567383"/>
            <a:ext cx="617665" cy="617665"/>
          </a:xfrm>
          <a:prstGeom prst="ellipse">
            <a:avLst/>
          </a:prstGeom>
          <a:gradFill>
            <a:gsLst>
              <a:gs pos="0">
                <a:srgbClr val="AD85FF"/>
              </a:gs>
              <a:gs pos="100000">
                <a:srgbClr val="6316FF"/>
              </a:gs>
            </a:gsLst>
            <a:lin ang="10800000" scaled="0"/>
          </a:gradFill>
          <a:ln w="50800">
            <a:solidFill>
              <a:schemeClr val="bg1">
                <a:alpha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Rectangle: Rounded Corners 76">
            <a:hlinkClick r:id="rId7" action="ppaction://hlinksldjump"/>
            <a:extLst>
              <a:ext uri="{FF2B5EF4-FFF2-40B4-BE49-F238E27FC236}">
                <a16:creationId xmlns:a16="http://schemas.microsoft.com/office/drawing/2014/main" id="{2ECD10AA-EBA6-A865-3E83-1607F1C65A18}"/>
              </a:ext>
            </a:extLst>
          </p:cNvPr>
          <p:cNvSpPr/>
          <p:nvPr/>
        </p:nvSpPr>
        <p:spPr>
          <a:xfrm>
            <a:off x="4704090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78" name="Rectangle: Rounded Corners 77">
            <a:hlinkClick r:id="rId8" action="ppaction://hlinksldjump"/>
            <a:extLst>
              <a:ext uri="{FF2B5EF4-FFF2-40B4-BE49-F238E27FC236}">
                <a16:creationId xmlns:a16="http://schemas.microsoft.com/office/drawing/2014/main" id="{53EFA9C2-3F91-FEF9-4413-F83A08F16B9C}"/>
              </a:ext>
            </a:extLst>
          </p:cNvPr>
          <p:cNvSpPr/>
          <p:nvPr/>
        </p:nvSpPr>
        <p:spPr>
          <a:xfrm>
            <a:off x="3459746" y="30478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79" name="Rectangle: Rounded Corners 78">
            <a:hlinkClick r:id="rId9" action="ppaction://hlinksldjump"/>
            <a:extLst>
              <a:ext uri="{FF2B5EF4-FFF2-40B4-BE49-F238E27FC236}">
                <a16:creationId xmlns:a16="http://schemas.microsoft.com/office/drawing/2014/main" id="{D61F4CFB-5B14-E0B4-28CD-268D67D9B9D8}"/>
              </a:ext>
            </a:extLst>
          </p:cNvPr>
          <p:cNvSpPr/>
          <p:nvPr/>
        </p:nvSpPr>
        <p:spPr>
          <a:xfrm>
            <a:off x="6141496" y="30478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pic>
        <p:nvPicPr>
          <p:cNvPr id="87" name="Graphic 86" descr="Checkmark with solid fill">
            <a:extLst>
              <a:ext uri="{FF2B5EF4-FFF2-40B4-BE49-F238E27FC236}">
                <a16:creationId xmlns:a16="http://schemas.microsoft.com/office/drawing/2014/main" id="{074C76A3-D8CF-2A4E-F607-3BD1E297E5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179505" y="2535118"/>
            <a:ext cx="701895" cy="701895"/>
          </a:xfrm>
          <a:prstGeom prst="rect">
            <a:avLst/>
          </a:prstGeom>
        </p:spPr>
      </p:pic>
      <p:pic>
        <p:nvPicPr>
          <p:cNvPr id="88" name="Graphic 87" descr="Close with solid fill">
            <a:extLst>
              <a:ext uri="{FF2B5EF4-FFF2-40B4-BE49-F238E27FC236}">
                <a16:creationId xmlns:a16="http://schemas.microsoft.com/office/drawing/2014/main" id="{185E165C-72AD-02CC-A32C-4331B3C489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116534" y="3588656"/>
            <a:ext cx="617666" cy="617666"/>
          </a:xfrm>
          <a:prstGeom prst="rect">
            <a:avLst/>
          </a:prstGeom>
        </p:spPr>
      </p:pic>
      <p:pic>
        <p:nvPicPr>
          <p:cNvPr id="89" name="Graphic 88" descr="Checkmark with solid fill">
            <a:extLst>
              <a:ext uri="{FF2B5EF4-FFF2-40B4-BE49-F238E27FC236}">
                <a16:creationId xmlns:a16="http://schemas.microsoft.com/office/drawing/2014/main" id="{812F602D-DA48-8C18-67C5-BA72B26132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3179506" y="4493911"/>
            <a:ext cx="701895" cy="701895"/>
          </a:xfrm>
          <a:prstGeom prst="rect">
            <a:avLst/>
          </a:prstGeom>
        </p:spPr>
      </p:pic>
      <p:pic>
        <p:nvPicPr>
          <p:cNvPr id="90" name="Graphic 89" descr="Checkmark with solid fill">
            <a:extLst>
              <a:ext uri="{FF2B5EF4-FFF2-40B4-BE49-F238E27FC236}">
                <a16:creationId xmlns:a16="http://schemas.microsoft.com/office/drawing/2014/main" id="{2F2125AC-08BE-5906-B93C-6E971C8E98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193593" y="5491495"/>
            <a:ext cx="701895" cy="701895"/>
          </a:xfrm>
          <a:prstGeom prst="rect">
            <a:avLst/>
          </a:prstGeom>
        </p:spPr>
      </p:pic>
      <p:pic>
        <p:nvPicPr>
          <p:cNvPr id="91" name="Graphic 90" descr="Close with solid fill">
            <a:extLst>
              <a:ext uri="{FF2B5EF4-FFF2-40B4-BE49-F238E27FC236}">
                <a16:creationId xmlns:a16="http://schemas.microsoft.com/office/drawing/2014/main" id="{2D4D1918-BA36-9EC1-22D2-4F88257638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116534" y="1663757"/>
            <a:ext cx="617666" cy="617666"/>
          </a:xfrm>
          <a:prstGeom prst="rect">
            <a:avLst/>
          </a:prstGeom>
        </p:spPr>
      </p:pic>
      <p:sp>
        <p:nvSpPr>
          <p:cNvPr id="19" name="Rectangle: Rounded Corners 18">
            <a:hlinkClick r:id="rId14" action="ppaction://hlinksldjump"/>
            <a:extLst>
              <a:ext uri="{FF2B5EF4-FFF2-40B4-BE49-F238E27FC236}">
                <a16:creationId xmlns:a16="http://schemas.microsoft.com/office/drawing/2014/main" id="{9965A7C2-E1CF-4483-DFDF-CE3C67988BF9}"/>
              </a:ext>
            </a:extLst>
          </p:cNvPr>
          <p:cNvSpPr/>
          <p:nvPr/>
        </p:nvSpPr>
        <p:spPr>
          <a:xfrm>
            <a:off x="7578902" y="304780"/>
            <a:ext cx="1153353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Outro</a:t>
            </a:r>
          </a:p>
        </p:txBody>
      </p:sp>
      <p:sp>
        <p:nvSpPr>
          <p:cNvPr id="92" name="!!MiddleBack">
            <a:extLst>
              <a:ext uri="{FF2B5EF4-FFF2-40B4-BE49-F238E27FC236}">
                <a16:creationId xmlns:a16="http://schemas.microsoft.com/office/drawing/2014/main" id="{9FBADA0E-4E91-C961-3A42-718A6F0DC1E7}"/>
              </a:ext>
            </a:extLst>
          </p:cNvPr>
          <p:cNvSpPr txBox="1"/>
          <p:nvPr/>
        </p:nvSpPr>
        <p:spPr>
          <a:xfrm>
            <a:off x="13207328" y="779775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Thank you 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70117D-F761-4340-C46D-D3077CC8FF9B}"/>
              </a:ext>
            </a:extLst>
          </p:cNvPr>
          <p:cNvSpPr txBox="1"/>
          <p:nvPr/>
        </p:nvSpPr>
        <p:spPr>
          <a:xfrm>
            <a:off x="22289995" y="1771677"/>
            <a:ext cx="2608592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همس أحمد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هند رضا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منار مجدي 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ندى السيد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0495CD-0F53-3FC2-138F-7F996DB8C072}"/>
              </a:ext>
            </a:extLst>
          </p:cNvPr>
          <p:cNvSpPr txBox="1"/>
          <p:nvPr/>
        </p:nvSpPr>
        <p:spPr>
          <a:xfrm>
            <a:off x="20818174" y="1979426"/>
            <a:ext cx="2608592" cy="89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سما سامي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مروة عبدالله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وعد محمد</a:t>
            </a:r>
          </a:p>
        </p:txBody>
      </p:sp>
      <p:pic>
        <p:nvPicPr>
          <p:cNvPr id="22" name="1014">
            <a:hlinkClick r:id="" action="ppaction://media"/>
            <a:extLst>
              <a:ext uri="{FF2B5EF4-FFF2-40B4-BE49-F238E27FC236}">
                <a16:creationId xmlns:a16="http://schemas.microsoft.com/office/drawing/2014/main" id="{44FCC28B-3BEB-75A0-2ABD-478F634A41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16896447" y="3951768"/>
            <a:ext cx="3921727" cy="220597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1200000" lon="5400000" rev="0"/>
            </a:camera>
            <a:lightRig rig="threePt" dir="t"/>
          </a:scene3d>
        </p:spPr>
      </p:pic>
      <p:sp>
        <p:nvSpPr>
          <p:cNvPr id="15" name="Freeform 3">
            <a:extLst>
              <a:ext uri="{FF2B5EF4-FFF2-40B4-BE49-F238E27FC236}">
                <a16:creationId xmlns:a16="http://schemas.microsoft.com/office/drawing/2014/main" id="{DDB93311-CA5F-F819-BCEF-E202669D97E1}"/>
              </a:ext>
            </a:extLst>
          </p:cNvPr>
          <p:cNvSpPr/>
          <p:nvPr/>
        </p:nvSpPr>
        <p:spPr>
          <a:xfrm>
            <a:off x="6783625" y="517305"/>
            <a:ext cx="4538066" cy="5823390"/>
          </a:xfrm>
          <a:custGeom>
            <a:avLst/>
            <a:gdLst/>
            <a:ahLst/>
            <a:cxnLst/>
            <a:rect l="l" t="t" r="r" b="b"/>
            <a:pathLst>
              <a:path w="3615407" h="4639405">
                <a:moveTo>
                  <a:pt x="0" y="0"/>
                </a:moveTo>
                <a:lnTo>
                  <a:pt x="3615408" y="0"/>
                </a:lnTo>
                <a:lnTo>
                  <a:pt x="3615408" y="4639404"/>
                </a:lnTo>
                <a:lnTo>
                  <a:pt x="0" y="46394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59510" r="-686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DC3857-C331-3C87-E51D-8A75E2695A57}"/>
              </a:ext>
            </a:extLst>
          </p:cNvPr>
          <p:cNvSpPr/>
          <p:nvPr/>
        </p:nvSpPr>
        <p:spPr>
          <a:xfrm rot="3015908">
            <a:off x="9075599" y="5463913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75C1DC-88D6-6ADF-BB49-622EE68E8C66}"/>
              </a:ext>
            </a:extLst>
          </p:cNvPr>
          <p:cNvSpPr txBox="1"/>
          <p:nvPr/>
        </p:nvSpPr>
        <p:spPr>
          <a:xfrm>
            <a:off x="8477056" y="6101157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BBA77EF-EF19-AAAC-395B-CA03FFD3C344}"/>
              </a:ext>
            </a:extLst>
          </p:cNvPr>
          <p:cNvSpPr/>
          <p:nvPr/>
        </p:nvSpPr>
        <p:spPr>
          <a:xfrm>
            <a:off x="3746009" y="3528439"/>
            <a:ext cx="2120590" cy="2120590"/>
          </a:xfrm>
          <a:prstGeom prst="ellipse">
            <a:avLst/>
          </a:prstGeom>
          <a:solidFill>
            <a:schemeClr val="bg1">
              <a:alpha val="10000"/>
            </a:schemeClr>
          </a:solidFill>
          <a:ln w="50800">
            <a:solidFill>
              <a:schemeClr val="bg1">
                <a:alpha val="35000"/>
              </a:schemeClr>
            </a:solidFill>
          </a:ln>
          <a:effectLst>
            <a:innerShdw blurRad="1270000" dir="13500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4312B-9F91-9B3D-F11E-66BE6FB6DCC0}"/>
              </a:ext>
            </a:extLst>
          </p:cNvPr>
          <p:cNvSpPr/>
          <p:nvPr/>
        </p:nvSpPr>
        <p:spPr>
          <a:xfrm rot="3015908">
            <a:off x="9404648" y="812290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49B46F-FF84-9427-D86A-A2BF377A5969}"/>
              </a:ext>
            </a:extLst>
          </p:cNvPr>
          <p:cNvSpPr txBox="1"/>
          <p:nvPr/>
        </p:nvSpPr>
        <p:spPr>
          <a:xfrm>
            <a:off x="9793712" y="7369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2DCA5D-BE67-BFFD-66E8-221384C70657}"/>
              </a:ext>
            </a:extLst>
          </p:cNvPr>
          <p:cNvSpPr/>
          <p:nvPr/>
        </p:nvSpPr>
        <p:spPr>
          <a:xfrm rot="3015908">
            <a:off x="9260218" y="347292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BFFFE-8222-3927-0C3D-BA942BECBEEB}"/>
              </a:ext>
            </a:extLst>
          </p:cNvPr>
          <p:cNvSpPr txBox="1"/>
          <p:nvPr/>
        </p:nvSpPr>
        <p:spPr>
          <a:xfrm>
            <a:off x="9649282" y="2719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C1BB927-64BC-E7D1-D9FD-5EA261C30049}"/>
              </a:ext>
            </a:extLst>
          </p:cNvPr>
          <p:cNvSpPr/>
          <p:nvPr/>
        </p:nvSpPr>
        <p:spPr>
          <a:xfrm rot="8085142">
            <a:off x="8030914" y="3469579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B8E980-5C15-89A7-7E2C-1D94257A34F5}"/>
              </a:ext>
            </a:extLst>
          </p:cNvPr>
          <p:cNvSpPr txBox="1"/>
          <p:nvPr/>
        </p:nvSpPr>
        <p:spPr>
          <a:xfrm>
            <a:off x="7553102" y="325389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03048B-72EE-5D26-B823-D09F6FE51BB5}"/>
              </a:ext>
            </a:extLst>
          </p:cNvPr>
          <p:cNvSpPr txBox="1"/>
          <p:nvPr/>
        </p:nvSpPr>
        <p:spPr>
          <a:xfrm>
            <a:off x="6250719" y="6111648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Ventriculus (gizzard)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37132D-36B9-DE3D-09F5-AE8C063D0C07}"/>
              </a:ext>
            </a:extLst>
          </p:cNvPr>
          <p:cNvSpPr txBox="1"/>
          <p:nvPr/>
        </p:nvSpPr>
        <p:spPr>
          <a:xfrm>
            <a:off x="7001392" y="2956533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Proventriculus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AF54C8-70C9-7A53-069A-DF01261232A1}"/>
              </a:ext>
            </a:extLst>
          </p:cNvPr>
          <p:cNvSpPr txBox="1"/>
          <p:nvPr/>
        </p:nvSpPr>
        <p:spPr>
          <a:xfrm>
            <a:off x="9957380" y="212266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Duodenal loop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C01287-1D7D-C1E6-A5DA-D36208CFE046}"/>
              </a:ext>
            </a:extLst>
          </p:cNvPr>
          <p:cNvSpPr txBox="1"/>
          <p:nvPr/>
        </p:nvSpPr>
        <p:spPr>
          <a:xfrm>
            <a:off x="10047731" y="713625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eague Spartan" pitchFamily="2" charset="0"/>
              </a:rPr>
              <a:t>Pancreas</a:t>
            </a:r>
            <a:endParaRPr lang="en-US" dirty="0">
              <a:latin typeface="League Sparta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B722B3-4B5F-805E-6F47-2D66091EA1F1}"/>
              </a:ext>
            </a:extLst>
          </p:cNvPr>
          <p:cNvSpPr txBox="1"/>
          <p:nvPr/>
        </p:nvSpPr>
        <p:spPr>
          <a:xfrm>
            <a:off x="3668338" y="5692158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Meckel's diverticulum</a:t>
            </a:r>
          </a:p>
        </p:txBody>
      </p:sp>
    </p:spTree>
    <p:extLst>
      <p:ext uri="{BB962C8B-B14F-4D97-AF65-F5344CB8AC3E}">
        <p14:creationId xmlns:p14="http://schemas.microsoft.com/office/powerpoint/2010/main" val="660737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52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video>
              <p:cMediaNode vol="80000" mute="1">
                <p:cTn id="37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  <p:bldLst>
      <p:bldP spid="29" grpId="0" build="allAtOnce"/>
      <p:bldP spid="36" grpId="0" build="allAtOnce"/>
      <p:bldP spid="37" grpId="0" build="allAtOnce"/>
      <p:bldP spid="38" grpId="0" build="allAtOnce"/>
      <p:bldP spid="39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D85FF"/>
            </a:gs>
            <a:gs pos="100000">
              <a:srgbClr val="6316FF"/>
            </a:gs>
          </a:gsLst>
          <a:lin ang="108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3B1AC-6ACB-3A7D-DD2C-54C0014C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>
            <a:extLst>
              <a:ext uri="{FF2B5EF4-FFF2-40B4-BE49-F238E27FC236}">
                <a16:creationId xmlns:a16="http://schemas.microsoft.com/office/drawing/2014/main" id="{02A77EE8-726D-B9C4-2964-33EE49CFA3AF}"/>
              </a:ext>
            </a:extLst>
          </p:cNvPr>
          <p:cNvSpPr/>
          <p:nvPr/>
        </p:nvSpPr>
        <p:spPr>
          <a:xfrm>
            <a:off x="-13546906" y="1185831"/>
            <a:ext cx="7267717" cy="4305664"/>
          </a:xfrm>
          <a:custGeom>
            <a:avLst/>
            <a:gdLst/>
            <a:ahLst/>
            <a:cxnLst/>
            <a:rect l="l" t="t" r="r" b="b"/>
            <a:pathLst>
              <a:path w="6048000" h="3583059">
                <a:moveTo>
                  <a:pt x="0" y="0"/>
                </a:moveTo>
                <a:lnTo>
                  <a:pt x="6048000" y="0"/>
                </a:lnTo>
                <a:lnTo>
                  <a:pt x="6048000" y="3583059"/>
                </a:lnTo>
                <a:lnTo>
                  <a:pt x="0" y="3583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7FC532D6-960B-4091-E5CF-D7CD4CC044C9}"/>
              </a:ext>
            </a:extLst>
          </p:cNvPr>
          <p:cNvSpPr/>
          <p:nvPr/>
        </p:nvSpPr>
        <p:spPr>
          <a:xfrm>
            <a:off x="-7028888" y="517305"/>
            <a:ext cx="4538066" cy="5823390"/>
          </a:xfrm>
          <a:custGeom>
            <a:avLst/>
            <a:gdLst/>
            <a:ahLst/>
            <a:cxnLst/>
            <a:rect l="l" t="t" r="r" b="b"/>
            <a:pathLst>
              <a:path w="3615407" h="4639405">
                <a:moveTo>
                  <a:pt x="0" y="0"/>
                </a:moveTo>
                <a:lnTo>
                  <a:pt x="3615408" y="0"/>
                </a:lnTo>
                <a:lnTo>
                  <a:pt x="3615408" y="4639404"/>
                </a:lnTo>
                <a:lnTo>
                  <a:pt x="0" y="4639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9510" r="-6861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8D13DDF-E6EC-2774-1CB0-29E281BF02CC}"/>
              </a:ext>
            </a:extLst>
          </p:cNvPr>
          <p:cNvSpPr/>
          <p:nvPr/>
        </p:nvSpPr>
        <p:spPr>
          <a:xfrm>
            <a:off x="-3405299" y="3528439"/>
            <a:ext cx="2120590" cy="2120590"/>
          </a:xfrm>
          <a:prstGeom prst="ellipse">
            <a:avLst/>
          </a:prstGeom>
          <a:solidFill>
            <a:schemeClr val="bg1">
              <a:alpha val="10000"/>
            </a:schemeClr>
          </a:solidFill>
          <a:ln w="50800">
            <a:solidFill>
              <a:schemeClr val="bg1">
                <a:alpha val="35000"/>
              </a:schemeClr>
            </a:solidFill>
          </a:ln>
          <a:effectLst>
            <a:innerShdw blurRad="1270000" dir="13500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5" name="Graphic 134" descr="Rooster with solid fill">
            <a:extLst>
              <a:ext uri="{FF2B5EF4-FFF2-40B4-BE49-F238E27FC236}">
                <a16:creationId xmlns:a16="http://schemas.microsoft.com/office/drawing/2014/main" id="{684F70E0-92AD-4D62-B873-E8E837AECB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239796" y="604968"/>
            <a:ext cx="7967532" cy="7967532"/>
          </a:xfrm>
          <a:prstGeom prst="rect">
            <a:avLst/>
          </a:prstGeom>
        </p:spPr>
      </p:pic>
      <p:sp>
        <p:nvSpPr>
          <p:cNvPr id="2" name="!!page1product">
            <a:extLst>
              <a:ext uri="{FF2B5EF4-FFF2-40B4-BE49-F238E27FC236}">
                <a16:creationId xmlns:a16="http://schemas.microsoft.com/office/drawing/2014/main" id="{09A9FC10-4DD4-D66B-2ABF-4A3A95D536D8}"/>
              </a:ext>
            </a:extLst>
          </p:cNvPr>
          <p:cNvSpPr/>
          <p:nvPr/>
        </p:nvSpPr>
        <p:spPr>
          <a:xfrm>
            <a:off x="5538020" y="7326518"/>
            <a:ext cx="1115961" cy="438646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!!page2product">
            <a:extLst>
              <a:ext uri="{FF2B5EF4-FFF2-40B4-BE49-F238E27FC236}">
                <a16:creationId xmlns:a16="http://schemas.microsoft.com/office/drawing/2014/main" id="{FB8706D7-988D-0216-3B82-4B550536CA23}"/>
              </a:ext>
            </a:extLst>
          </p:cNvPr>
          <p:cNvSpPr/>
          <p:nvPr/>
        </p:nvSpPr>
        <p:spPr>
          <a:xfrm>
            <a:off x="6783625" y="77143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!!page3product">
            <a:extLst>
              <a:ext uri="{FF2B5EF4-FFF2-40B4-BE49-F238E27FC236}">
                <a16:creationId xmlns:a16="http://schemas.microsoft.com/office/drawing/2014/main" id="{0AA44DFF-2454-BDE0-BCFA-71441C928C1F}"/>
              </a:ext>
            </a:extLst>
          </p:cNvPr>
          <p:cNvSpPr/>
          <p:nvPr/>
        </p:nvSpPr>
        <p:spPr>
          <a:xfrm>
            <a:off x="8053773" y="77143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!!page4product">
            <a:extLst>
              <a:ext uri="{FF2B5EF4-FFF2-40B4-BE49-F238E27FC236}">
                <a16:creationId xmlns:a16="http://schemas.microsoft.com/office/drawing/2014/main" id="{13198B3D-3C6B-79EA-83C1-DE46115827A4}"/>
              </a:ext>
            </a:extLst>
          </p:cNvPr>
          <p:cNvSpPr/>
          <p:nvPr/>
        </p:nvSpPr>
        <p:spPr>
          <a:xfrm>
            <a:off x="9323922" y="7714364"/>
            <a:ext cx="1115961" cy="43864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hlinkClick r:id="rId8" action="ppaction://hlinksldjump"/>
            <a:extLst>
              <a:ext uri="{FF2B5EF4-FFF2-40B4-BE49-F238E27FC236}">
                <a16:creationId xmlns:a16="http://schemas.microsoft.com/office/drawing/2014/main" id="{2ECD10AA-EBA6-A865-3E83-1607F1C65A18}"/>
              </a:ext>
            </a:extLst>
          </p:cNvPr>
          <p:cNvSpPr/>
          <p:nvPr/>
        </p:nvSpPr>
        <p:spPr>
          <a:xfrm>
            <a:off x="4704090" y="-39275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Choices</a:t>
            </a:r>
          </a:p>
        </p:txBody>
      </p:sp>
      <p:sp>
        <p:nvSpPr>
          <p:cNvPr id="78" name="Rectangle: Rounded Corners 77">
            <a:hlinkClick r:id="rId9" action="ppaction://hlinksldjump"/>
            <a:extLst>
              <a:ext uri="{FF2B5EF4-FFF2-40B4-BE49-F238E27FC236}">
                <a16:creationId xmlns:a16="http://schemas.microsoft.com/office/drawing/2014/main" id="{53EFA9C2-3F91-FEF9-4413-F83A08F16B9C}"/>
              </a:ext>
            </a:extLst>
          </p:cNvPr>
          <p:cNvSpPr/>
          <p:nvPr/>
        </p:nvSpPr>
        <p:spPr>
          <a:xfrm>
            <a:off x="3459746" y="-392750"/>
            <a:ext cx="1153353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Intro</a:t>
            </a:r>
          </a:p>
        </p:txBody>
      </p:sp>
      <p:sp>
        <p:nvSpPr>
          <p:cNvPr id="79" name="Rectangle: Rounded Corners 78">
            <a:hlinkClick r:id="rId10" action="ppaction://hlinksldjump"/>
            <a:extLst>
              <a:ext uri="{FF2B5EF4-FFF2-40B4-BE49-F238E27FC236}">
                <a16:creationId xmlns:a16="http://schemas.microsoft.com/office/drawing/2014/main" id="{D61F4CFB-5B14-E0B4-28CD-268D67D9B9D8}"/>
              </a:ext>
            </a:extLst>
          </p:cNvPr>
          <p:cNvSpPr/>
          <p:nvPr/>
        </p:nvSpPr>
        <p:spPr>
          <a:xfrm>
            <a:off x="6141496" y="-392750"/>
            <a:ext cx="1346415" cy="300188"/>
          </a:xfrm>
          <a:prstGeom prst="roundRect">
            <a:avLst/>
          </a:prstGeom>
          <a:gradFill flip="none" rotWithShape="1">
            <a:gsLst>
              <a:gs pos="0">
                <a:srgbClr val="6316FF">
                  <a:shade val="30000"/>
                  <a:satMod val="115000"/>
                </a:srgbClr>
              </a:gs>
              <a:gs pos="50000">
                <a:srgbClr val="6316FF">
                  <a:shade val="67500"/>
                  <a:satMod val="115000"/>
                </a:srgbClr>
              </a:gs>
              <a:gs pos="100000">
                <a:srgbClr val="6316FF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Montserrat" pitchFamily="2" charset="0"/>
              </a:rPr>
              <a:t>True &amp; False</a:t>
            </a:r>
          </a:p>
        </p:txBody>
      </p:sp>
      <p:sp>
        <p:nvSpPr>
          <p:cNvPr id="7" name="!!MiddleBack">
            <a:extLst>
              <a:ext uri="{FF2B5EF4-FFF2-40B4-BE49-F238E27FC236}">
                <a16:creationId xmlns:a16="http://schemas.microsoft.com/office/drawing/2014/main" id="{5E8E864A-1D29-BA7C-F1F9-D79651E0AAAC}"/>
              </a:ext>
            </a:extLst>
          </p:cNvPr>
          <p:cNvSpPr txBox="1"/>
          <p:nvPr/>
        </p:nvSpPr>
        <p:spPr>
          <a:xfrm>
            <a:off x="-2807702" y="608896"/>
            <a:ext cx="123024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League Spartan" pitchFamily="2" charset="0"/>
              </a:rPr>
              <a:t>Thank you !</a:t>
            </a:r>
          </a:p>
        </p:txBody>
      </p:sp>
      <p:sp>
        <p:nvSpPr>
          <p:cNvPr id="19" name="Rectangle: Rounded Corners 18">
            <a:hlinkClick r:id="rId11" action="ppaction://hlinksldjump"/>
            <a:extLst>
              <a:ext uri="{FF2B5EF4-FFF2-40B4-BE49-F238E27FC236}">
                <a16:creationId xmlns:a16="http://schemas.microsoft.com/office/drawing/2014/main" id="{9965A7C2-E1CF-4483-DFDF-CE3C67988BF9}"/>
              </a:ext>
            </a:extLst>
          </p:cNvPr>
          <p:cNvSpPr/>
          <p:nvPr/>
        </p:nvSpPr>
        <p:spPr>
          <a:xfrm>
            <a:off x="7578902" y="-392750"/>
            <a:ext cx="1153353" cy="30018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6316FF"/>
                </a:solidFill>
                <a:latin typeface="Montserrat" pitchFamily="2" charset="0"/>
              </a:rPr>
              <a:t>Outro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86490-2915-1749-DD7D-814131CE4E5C}"/>
              </a:ext>
            </a:extLst>
          </p:cNvPr>
          <p:cNvSpPr txBox="1"/>
          <p:nvPr/>
        </p:nvSpPr>
        <p:spPr>
          <a:xfrm>
            <a:off x="2552819" y="1276377"/>
            <a:ext cx="2608592" cy="1169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همس أحمد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هند رضا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منار مجدي 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ندى السيد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A1685-CA38-3151-88DA-35E7CD1E94AE}"/>
              </a:ext>
            </a:extLst>
          </p:cNvPr>
          <p:cNvSpPr txBox="1"/>
          <p:nvPr/>
        </p:nvSpPr>
        <p:spPr>
          <a:xfrm>
            <a:off x="513421" y="1484126"/>
            <a:ext cx="2608592" cy="89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سما سامي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مروة عبدالله 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EG" sz="1200" dirty="0">
                <a:solidFill>
                  <a:schemeClr val="bg1">
                    <a:lumMod val="95000"/>
                  </a:schemeClr>
                </a:solidFill>
                <a:latin typeface="Montserrat-Arabic" panose="00000500000000000000" pitchFamily="2" charset="-78"/>
                <a:cs typeface="Montserrat-Arabic" panose="00000500000000000000" pitchFamily="2" charset="-78"/>
              </a:rPr>
              <a:t>وعد محمد</a:t>
            </a:r>
          </a:p>
        </p:txBody>
      </p:sp>
      <p:pic>
        <p:nvPicPr>
          <p:cNvPr id="12" name="1014">
            <a:hlinkClick r:id="" action="ppaction://media"/>
            <a:extLst>
              <a:ext uri="{FF2B5EF4-FFF2-40B4-BE49-F238E27FC236}">
                <a16:creationId xmlns:a16="http://schemas.microsoft.com/office/drawing/2014/main" id="{57270973-0E8A-23F1-DE6C-1AAD4DD6D6D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38111" y="2721659"/>
            <a:ext cx="5576607" cy="3136842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  <a:scene3d>
            <a:camera prst="orthographicFront">
              <a:rot lat="1200000" lon="1800000" rev="0"/>
            </a:camera>
            <a:lightRig rig="threePt" dir="t"/>
          </a:scene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2CA72C-F554-D059-9FA9-1AC24C843C82}"/>
              </a:ext>
            </a:extLst>
          </p:cNvPr>
          <p:cNvSpPr txBox="1"/>
          <p:nvPr/>
        </p:nvSpPr>
        <p:spPr>
          <a:xfrm>
            <a:off x="-9879884" y="6111648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Ventriculus (gizzard)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16AACA-7492-DBF1-E61D-39F287D345A8}"/>
              </a:ext>
            </a:extLst>
          </p:cNvPr>
          <p:cNvSpPr txBox="1"/>
          <p:nvPr/>
        </p:nvSpPr>
        <p:spPr>
          <a:xfrm>
            <a:off x="-9129211" y="2956533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Proventriculus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467729-626E-CE4D-D189-73A254E74E6E}"/>
              </a:ext>
            </a:extLst>
          </p:cNvPr>
          <p:cNvSpPr txBox="1"/>
          <p:nvPr/>
        </p:nvSpPr>
        <p:spPr>
          <a:xfrm>
            <a:off x="-6173223" y="212266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Duodenal 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C04A39-6B5C-15F5-AB25-AE984CAF6FAB}"/>
              </a:ext>
            </a:extLst>
          </p:cNvPr>
          <p:cNvSpPr txBox="1"/>
          <p:nvPr/>
        </p:nvSpPr>
        <p:spPr>
          <a:xfrm>
            <a:off x="-7481381" y="1156580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eague Spartan" pitchFamily="2" charset="0"/>
              </a:rPr>
              <a:t>Pancreas</a:t>
            </a:r>
            <a:endParaRPr lang="en-US" dirty="0">
              <a:latin typeface="League Spartan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2CD3B-AA91-00B8-29EB-6BD497154004}"/>
              </a:ext>
            </a:extLst>
          </p:cNvPr>
          <p:cNvSpPr txBox="1"/>
          <p:nvPr/>
        </p:nvSpPr>
        <p:spPr>
          <a:xfrm>
            <a:off x="-12462265" y="5692158"/>
            <a:ext cx="560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League Spartan" pitchFamily="2" charset="0"/>
              </a:rPr>
              <a:t>Meckel's diverticulum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7A41CF-7BB0-DD6A-AFBE-D31DBB2D8FFE}"/>
              </a:ext>
            </a:extLst>
          </p:cNvPr>
          <p:cNvSpPr/>
          <p:nvPr/>
        </p:nvSpPr>
        <p:spPr>
          <a:xfrm rot="3015908">
            <a:off x="-4411508" y="4726603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378111-A292-F684-AF1B-20B68574BC09}"/>
              </a:ext>
            </a:extLst>
          </p:cNvPr>
          <p:cNvSpPr txBox="1"/>
          <p:nvPr/>
        </p:nvSpPr>
        <p:spPr>
          <a:xfrm>
            <a:off x="-5010051" y="5363847"/>
            <a:ext cx="260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7C17F6-0325-4B93-355B-E32EBC08EEF1}"/>
              </a:ext>
            </a:extLst>
          </p:cNvPr>
          <p:cNvSpPr/>
          <p:nvPr/>
        </p:nvSpPr>
        <p:spPr>
          <a:xfrm rot="3015908">
            <a:off x="-4082459" y="74980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EE2E22-1DC2-3945-B735-A16F36F6D1B0}"/>
              </a:ext>
            </a:extLst>
          </p:cNvPr>
          <p:cNvSpPr txBox="1"/>
          <p:nvPr/>
        </p:nvSpPr>
        <p:spPr>
          <a:xfrm>
            <a:off x="-3693395" y="-3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175624-AA04-A9CA-6AF8-18691CA17E64}"/>
              </a:ext>
            </a:extLst>
          </p:cNvPr>
          <p:cNvSpPr/>
          <p:nvPr/>
        </p:nvSpPr>
        <p:spPr>
          <a:xfrm rot="3015908">
            <a:off x="-4226889" y="-390018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47775E-16B6-5A17-9A2E-DCBCC0FACC33}"/>
              </a:ext>
            </a:extLst>
          </p:cNvPr>
          <p:cNvSpPr txBox="1"/>
          <p:nvPr/>
        </p:nvSpPr>
        <p:spPr>
          <a:xfrm>
            <a:off x="-3837825" y="-46531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DCF35E-6067-AFCA-341F-1E12251EB0C7}"/>
              </a:ext>
            </a:extLst>
          </p:cNvPr>
          <p:cNvSpPr/>
          <p:nvPr/>
        </p:nvSpPr>
        <p:spPr>
          <a:xfrm rot="8085142">
            <a:off x="-5456193" y="2732269"/>
            <a:ext cx="45719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B8878F-CF1D-6FA1-C54B-7DED6FA32BE1}"/>
              </a:ext>
            </a:extLst>
          </p:cNvPr>
          <p:cNvSpPr txBox="1"/>
          <p:nvPr/>
        </p:nvSpPr>
        <p:spPr>
          <a:xfrm>
            <a:off x="-5934005" y="251658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League Spartan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41881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52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744</Words>
  <Application>Microsoft Office PowerPoint</Application>
  <PresentationFormat>Widescreen</PresentationFormat>
  <Paragraphs>234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League Spartan</vt:lpstr>
      <vt:lpstr>Montserrat-Arabic</vt:lpstr>
      <vt:lpstr>Montserrat</vt:lpstr>
      <vt:lpstr>Arial</vt:lpstr>
      <vt:lpstr>Aptos Display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Zyad Khaled</dc:creator>
  <cp:lastModifiedBy>Zyad Khaled</cp:lastModifiedBy>
  <cp:revision>36</cp:revision>
  <dcterms:created xsi:type="dcterms:W3CDTF">2025-10-14T01:21:49Z</dcterms:created>
  <dcterms:modified xsi:type="dcterms:W3CDTF">2025-10-14T05:27:04Z</dcterms:modified>
</cp:coreProperties>
</file>